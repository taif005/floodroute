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7"/>
                </a:solidFill>
                <a:latin typeface="Calibri"/>
              </a:defRPr>
            </a:pPr>
            <a:r>
              <a:rPr sz="1200" b="0" i="0" u="none" strike="noStrike">
                <a:solidFill>
                  <a:srgbClr val="1B1F27"/>
                </a:solidFill>
                <a:latin typeface="Calibri"/>
              </a:rPr>
              <a:t>Estimated cost by graph size (log scale)</a:t>
            </a:r>
          </a:p>
        </c:rich>
      </c:tx>
      <c:layout/>
      <c:overlay val="0"/>
    </c:title>
    <c:autoTitleDeleted val="0"/>
    <c:plotArea>
      <c:layout/>
      <c:lineChart>
        <c:varyColors val="0"/>
        <c:ser>
          <c:idx val="0"/>
          <c:order val="0"/>
          <c:tx>
            <c:strRef>
              <c:f>Sheet1!$B$1</c:f>
              <c:strCache>
                <c:ptCount val="1"/>
                <c:pt idx="0">
                  <c:v>Dijkstra</c:v>
                </c:pt>
              </c:strCache>
            </c:strRef>
          </c:tx>
          <c:spPr>
            <a:solidFill>
              <a:srgbClr val="0A4C8A"/>
            </a:solidFill>
            <a:ln w="34925" cap="flat">
              <a:solidFill>
                <a:srgbClr val="0A4C8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A4C8A"/>
              </a:solidFill>
              <a:ln w="9525" cap="flat">
                <a:solidFill>
                  <a:srgbClr val="0A4C8A"/>
                </a:solidFill>
                <a:prstDash val="solid"/>
                <a:round/>
              </a:ln>
              <a:effectLst/>
            </c:spPr>
          </c:marker>
          <c:cat>
            <c:multiLvlStrRef>
              <c:f>Sheet1!$A$2:$A$4</c:f>
              <c:multiLvlStrCache>
                <c:ptCount val="3"/>
                <c:lvl>
                  <c:pt idx="0">
                    <c:v>50 nodes</c:v>
                  </c:pt>
                  <c:pt idx="1">
                    <c:v>1,000 nodes</c:v>
                  </c:pt>
                  <c:pt idx="2">
                    <c:v>5,000 nodes</c:v>
                  </c:pt>
                </c:lvl>
              </c:multiLvlStrCache>
            </c:multiLvlStrRef>
          </c:cat>
          <c:val>
            <c:numRef>
              <c:f>Sheet1!$B$2:$B$4</c:f>
              <c:numCache>
                <c:formatCode>General</c:formatCode>
                <c:ptCount val="3"/>
                <c:pt idx="0">
                  <c:v>1523</c:v>
                </c:pt>
                <c:pt idx="1">
                  <c:v>53838</c:v>
                </c:pt>
                <c:pt idx="2">
                  <c:v>331830</c:v>
                </c:pt>
              </c:numCache>
            </c:numRef>
          </c:val>
          <c:smooth val="0"/>
        </c:ser>
        <c:ser>
          <c:idx val="1"/>
          <c:order val="1"/>
          <c:tx>
            <c:strRef>
              <c:f>Sheet1!$C$1</c:f>
              <c:strCache>
                <c:ptCount val="1"/>
                <c:pt idx="0">
                  <c:v>A*</c:v>
                </c:pt>
              </c:strCache>
            </c:strRef>
          </c:tx>
          <c:spPr>
            <a:solidFill>
              <a:srgbClr val="C99A3E"/>
            </a:solidFill>
            <a:ln w="34925" cap="flat">
              <a:solidFill>
                <a:srgbClr val="C99A3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99A3E"/>
              </a:solidFill>
              <a:ln w="9525" cap="flat">
                <a:solidFill>
                  <a:srgbClr val="C99A3E"/>
                </a:solidFill>
                <a:prstDash val="solid"/>
                <a:round/>
              </a:ln>
              <a:effectLst/>
            </c:spPr>
          </c:marker>
          <c:cat>
            <c:multiLvlStrRef>
              <c:f>Sheet1!$A$2:$A$4</c:f>
              <c:multiLvlStrCache>
                <c:ptCount val="3"/>
                <c:lvl>
                  <c:pt idx="0">
                    <c:v>50 nodes</c:v>
                  </c:pt>
                  <c:pt idx="1">
                    <c:v>1,000 nodes</c:v>
                  </c:pt>
                  <c:pt idx="2">
                    <c:v>5,000 nodes</c:v>
                  </c:pt>
                </c:lvl>
              </c:multiLvlStrCache>
            </c:multiLvlStrRef>
          </c:cat>
          <c:val>
            <c:numRef>
              <c:f>Sheet1!$C$2:$C$4</c:f>
              <c:numCache>
                <c:formatCode>General</c:formatCode>
                <c:ptCount val="3"/>
                <c:pt idx="0">
                  <c:v>1295</c:v>
                </c:pt>
                <c:pt idx="1">
                  <c:v>45762</c:v>
                </c:pt>
                <c:pt idx="2">
                  <c:v>282056</c:v>
                </c:pt>
              </c:numCache>
            </c:numRef>
          </c:val>
          <c:smooth val="0"/>
        </c:ser>
        <c:ser>
          <c:idx val="2"/>
          <c:order val="2"/>
          <c:tx>
            <c:strRef>
              <c:f>Sheet1!$D$1</c:f>
              <c:strCache>
                <c:ptCount val="1"/>
                <c:pt idx="0">
                  <c:v>Bellman-Ford</c:v>
                </c:pt>
              </c:strCache>
            </c:strRef>
          </c:tx>
          <c:spPr>
            <a:solidFill>
              <a:srgbClr val="C13B45"/>
            </a:solidFill>
            <a:ln w="34925" cap="flat">
              <a:solidFill>
                <a:srgbClr val="C13B4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13B45"/>
              </a:solidFill>
              <a:ln w="9525" cap="flat">
                <a:solidFill>
                  <a:srgbClr val="C13B45"/>
                </a:solidFill>
                <a:prstDash val="solid"/>
                <a:round/>
              </a:ln>
              <a:effectLst/>
            </c:spPr>
          </c:marker>
          <c:cat>
            <c:multiLvlStrRef>
              <c:f>Sheet1!$A$2:$A$4</c:f>
              <c:multiLvlStrCache>
                <c:ptCount val="3"/>
                <c:lvl>
                  <c:pt idx="0">
                    <c:v>50 nodes</c:v>
                  </c:pt>
                  <c:pt idx="1">
                    <c:v>1,000 nodes</c:v>
                  </c:pt>
                  <c:pt idx="2">
                    <c:v>5,000 nodes</c:v>
                  </c:pt>
                </c:lvl>
              </c:multiLvlStrCache>
            </c:multiLvlStrRef>
          </c:cat>
          <c:val>
            <c:numRef>
              <c:f>Sheet1!$D$2:$D$4</c:f>
              <c:numCache>
                <c:formatCode>General</c:formatCode>
                <c:ptCount val="3"/>
                <c:pt idx="0">
                  <c:v>11000</c:v>
                </c:pt>
                <c:pt idx="1">
                  <c:v>4400000</c:v>
                </c:pt>
                <c:pt idx="2">
                  <c:v>110000000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Calibri"/>
              </a:defRPr>
            </a:pPr>
            <a:endParaRPr lang="en-US"/>
          </a:p>
        </c:txPr>
        <c:crossAx val="2094734552"/>
        <c:crosses val="autoZero"/>
        <c:auto val="1"/>
        <c:lblAlgn val="ctr"/>
        <c:noMultiLvlLbl val="1"/>
      </c:catAx>
      <c:valAx>
        <c:axId val="2094734552"/>
        <c:scaling>
          <c:logBase val="10"/>
          <c:orientation val="minMax"/>
        </c:scaling>
        <c:delete val="0"/>
        <c:axPos val="l"/>
        <c:majorGridlines>
          <c:spPr>
            <a:ln w="12700" cap="flat">
              <a:solidFill>
                <a:srgbClr val="D8DEE4"/>
              </a:solidFill>
              <a:prstDash val="solid"/>
              <a:round/>
            </a:ln>
          </c:spPr>
        </c:majorGridlines>
        <c:title>
          <c:tx>
            <c:rich>
              <a:bodyPr/>
              <a:lstStyle/>
              <a:p>
                <a:pPr>
                  <a:defRPr sz="950" b="0" i="0" u="none" strike="noStrike">
                    <a:solidFill>
                      <a:srgbClr val="5B6472"/>
                    </a:solidFill>
                    <a:latin typeface="Arial"/>
                  </a:defRPr>
                </a:pPr>
                <a:r>
                  <a:rPr sz="950" b="0" i="0" u="none" strike="noStrike">
                    <a:solidFill>
                      <a:srgbClr val="5B6472"/>
                    </a:solidFill>
                    <a:latin typeface="Arial"/>
                  </a:rPr>
                  <a:t>Operations, O((V+E)logV) vs O(V×E) — log scale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2960" y="1298448"/>
            <a:ext cx="502920" cy="64008"/>
          </a:xfrm>
          <a:prstGeom prst="rect">
            <a:avLst/>
          </a:prstGeom>
          <a:solidFill>
            <a:srgbClr val="C99A3E"/>
          </a:solidFill>
          <a:ln/>
        </p:spPr>
      </p:sp>
      <p:sp>
        <p:nvSpPr>
          <p:cNvPr id="3" name="Text 1"/>
          <p:cNvSpPr/>
          <p:nvPr/>
        </p:nvSpPr>
        <p:spPr>
          <a:xfrm>
            <a:off x="822960" y="1463040"/>
            <a:ext cx="9144000" cy="365760"/>
          </a:xfrm>
          <a:prstGeom prst="rect">
            <a:avLst/>
          </a:prstGeom>
          <a:noFill/>
          <a:ln/>
        </p:spPr>
        <p:txBody>
          <a:bodyPr wrap="square" rtlCol="0" anchor="ctr"/>
          <a:lstStyle/>
          <a:p>
            <a:pPr indent="0" marL="0">
              <a:buNone/>
            </a:pPr>
            <a:r>
              <a:rPr lang="en-US" sz="1250" b="1" spc="200" kern="0" dirty="0">
                <a:solidFill>
                  <a:srgbClr val="8FD8D8"/>
                </a:solidFill>
                <a:latin typeface="Calibri" pitchFamily="34" charset="0"/>
                <a:ea typeface="Calibri" pitchFamily="34" charset="-122"/>
                <a:cs typeface="Calibri" pitchFamily="34" charset="-120"/>
              </a:rPr>
              <a:t>CSE 246  ·  DATA STRUCTURES AND ALGORITHMS</a:t>
            </a:r>
            <a:endParaRPr lang="en-US" sz="1250" dirty="0"/>
          </a:p>
        </p:txBody>
      </p:sp>
      <p:sp>
        <p:nvSpPr>
          <p:cNvPr id="4" name="Text 2"/>
          <p:cNvSpPr/>
          <p:nvPr/>
        </p:nvSpPr>
        <p:spPr>
          <a:xfrm>
            <a:off x="804672" y="1920240"/>
            <a:ext cx="10241280" cy="1371600"/>
          </a:xfrm>
          <a:prstGeom prst="rect">
            <a:avLst/>
          </a:prstGeom>
          <a:noFill/>
          <a:ln/>
        </p:spPr>
        <p:txBody>
          <a:bodyPr wrap="square"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Dhaka City Flood-Safe Route Finder</a:t>
            </a:r>
            <a:endParaRPr lang="en-US" sz="4000" dirty="0"/>
          </a:p>
        </p:txBody>
      </p:sp>
      <p:sp>
        <p:nvSpPr>
          <p:cNvPr id="5" name="Text 3"/>
          <p:cNvSpPr/>
          <p:nvPr/>
        </p:nvSpPr>
        <p:spPr>
          <a:xfrm>
            <a:off x="822960" y="3108960"/>
            <a:ext cx="8686800" cy="777240"/>
          </a:xfrm>
          <a:prstGeom prst="rect">
            <a:avLst/>
          </a:prstGeom>
          <a:noFill/>
          <a:ln/>
        </p:spPr>
        <p:txBody>
          <a:bodyPr wrap="square" rtlCol="0" anchor="ctr"/>
          <a:lstStyle/>
          <a:p>
            <a:pPr indent="0" marL="0">
              <a:lnSpc>
                <a:spcPct val="135000"/>
              </a:lnSpc>
              <a:buNone/>
            </a:pPr>
            <a:r>
              <a:rPr lang="en-US" sz="1450" dirty="0">
                <a:solidFill>
                  <a:srgbClr val="C3D3DE"/>
                </a:solidFill>
                <a:latin typeface="Calibri" pitchFamily="34" charset="0"/>
                <a:ea typeface="Calibri" pitchFamily="34" charset="-122"/>
                <a:cs typeface="Calibri" pitchFamily="34" charset="-120"/>
              </a:rPr>
              <a:t>An offline graph-based navigation system for routing around</a:t>
            </a:r>
            <a:endParaRPr lang="en-US" sz="1450" dirty="0"/>
          </a:p>
          <a:p>
            <a:pPr indent="0" marL="0">
              <a:lnSpc>
                <a:spcPct val="135000"/>
              </a:lnSpc>
              <a:buNone/>
            </a:pPr>
            <a:r>
              <a:rPr lang="en-US" sz="1450" dirty="0">
                <a:solidFill>
                  <a:srgbClr val="C3D3DE"/>
                </a:solidFill>
                <a:latin typeface="Calibri" pitchFamily="34" charset="0"/>
                <a:ea typeface="Calibri" pitchFamily="34" charset="-122"/>
                <a:cs typeface="Calibri" pitchFamily="34" charset="-120"/>
              </a:rPr>
              <a:t>submerged roads during monsoon flooding in Dhaka.</a:t>
            </a:r>
            <a:endParaRPr lang="en-US" sz="1450" dirty="0"/>
          </a:p>
        </p:txBody>
      </p:sp>
      <p:sp>
        <p:nvSpPr>
          <p:cNvPr id="6" name="Shape 4"/>
          <p:cNvSpPr/>
          <p:nvPr/>
        </p:nvSpPr>
        <p:spPr>
          <a:xfrm>
            <a:off x="822960" y="4206240"/>
            <a:ext cx="10515600" cy="0"/>
          </a:xfrm>
          <a:prstGeom prst="line">
            <a:avLst/>
          </a:prstGeom>
          <a:noFill/>
          <a:ln w="9525">
            <a:solidFill>
              <a:srgbClr val="24405A"/>
            </a:solidFill>
            <a:prstDash val="solid"/>
          </a:ln>
        </p:spPr>
      </p:sp>
      <p:sp>
        <p:nvSpPr>
          <p:cNvPr id="7" name="Text 5"/>
          <p:cNvSpPr/>
          <p:nvPr/>
        </p:nvSpPr>
        <p:spPr>
          <a:xfrm>
            <a:off x="822960" y="4434840"/>
            <a:ext cx="3657600" cy="320040"/>
          </a:xfrm>
          <a:prstGeom prst="rect">
            <a:avLst/>
          </a:prstGeom>
          <a:noFill/>
          <a:ln/>
        </p:spPr>
        <p:txBody>
          <a:bodyPr wrap="square" rtlCol="0" anchor="ctr"/>
          <a:lstStyle/>
          <a:p>
            <a:pPr indent="0" marL="0">
              <a:buNone/>
            </a:pPr>
            <a:r>
              <a:rPr lang="en-US" sz="1100" b="1" spc="150" kern="0" dirty="0">
                <a:solidFill>
                  <a:srgbClr val="C99A3E"/>
                </a:solidFill>
                <a:latin typeface="Calibri" pitchFamily="34" charset="0"/>
                <a:ea typeface="Calibri" pitchFamily="34" charset="-122"/>
                <a:cs typeface="Calibri" pitchFamily="34" charset="-120"/>
              </a:rPr>
              <a:t>SUBMITTED BY</a:t>
            </a:r>
            <a:endParaRPr lang="en-US" sz="1100" dirty="0"/>
          </a:p>
        </p:txBody>
      </p:sp>
      <p:sp>
        <p:nvSpPr>
          <p:cNvPr id="8" name="Text 6"/>
          <p:cNvSpPr/>
          <p:nvPr/>
        </p:nvSpPr>
        <p:spPr>
          <a:xfrm>
            <a:off x="822960" y="4800600"/>
            <a:ext cx="420624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S.M. Taif Chowdhury</a:t>
            </a:r>
            <a:endParaRPr lang="en-US" sz="1400" dirty="0"/>
          </a:p>
        </p:txBody>
      </p:sp>
      <p:sp>
        <p:nvSpPr>
          <p:cNvPr id="9" name="Text 7"/>
          <p:cNvSpPr/>
          <p:nvPr/>
        </p:nvSpPr>
        <p:spPr>
          <a:xfrm>
            <a:off x="5120640" y="4800600"/>
            <a:ext cx="2377440" cy="365760"/>
          </a:xfrm>
          <a:prstGeom prst="rect">
            <a:avLst/>
          </a:prstGeom>
          <a:noFill/>
          <a:ln/>
        </p:spPr>
        <p:txBody>
          <a:bodyPr wrap="square" rtlCol="0" anchor="ctr"/>
          <a:lstStyle/>
          <a:p>
            <a:pPr indent="0" marL="0">
              <a:buNone/>
            </a:pPr>
            <a:r>
              <a:rPr lang="en-US" sz="1300" dirty="0">
                <a:solidFill>
                  <a:srgbClr val="9FC4C4"/>
                </a:solidFill>
                <a:latin typeface="Courier New" pitchFamily="34" charset="0"/>
                <a:ea typeface="Courier New" pitchFamily="34" charset="-122"/>
                <a:cs typeface="Courier New" pitchFamily="34" charset="-120"/>
              </a:rPr>
              <a:t>2024-3-60-250</a:t>
            </a:r>
            <a:endParaRPr lang="en-US" sz="1300" dirty="0"/>
          </a:p>
        </p:txBody>
      </p:sp>
      <p:sp>
        <p:nvSpPr>
          <p:cNvPr id="10" name="Text 8"/>
          <p:cNvSpPr/>
          <p:nvPr/>
        </p:nvSpPr>
        <p:spPr>
          <a:xfrm>
            <a:off x="822960" y="5202936"/>
            <a:ext cx="420624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Sadiqur Rahman Bhuiyan</a:t>
            </a:r>
            <a:endParaRPr lang="en-US" sz="1400" dirty="0"/>
          </a:p>
        </p:txBody>
      </p:sp>
      <p:sp>
        <p:nvSpPr>
          <p:cNvPr id="11" name="Text 9"/>
          <p:cNvSpPr/>
          <p:nvPr/>
        </p:nvSpPr>
        <p:spPr>
          <a:xfrm>
            <a:off x="5120640" y="5202936"/>
            <a:ext cx="2377440" cy="365760"/>
          </a:xfrm>
          <a:prstGeom prst="rect">
            <a:avLst/>
          </a:prstGeom>
          <a:noFill/>
          <a:ln/>
        </p:spPr>
        <p:txBody>
          <a:bodyPr wrap="square" rtlCol="0" anchor="ctr"/>
          <a:lstStyle/>
          <a:p>
            <a:pPr indent="0" marL="0">
              <a:buNone/>
            </a:pPr>
            <a:r>
              <a:rPr lang="en-US" sz="1300" dirty="0">
                <a:solidFill>
                  <a:srgbClr val="9FC4C4"/>
                </a:solidFill>
                <a:latin typeface="Courier New" pitchFamily="34" charset="0"/>
                <a:ea typeface="Courier New" pitchFamily="34" charset="-122"/>
                <a:cs typeface="Courier New" pitchFamily="34" charset="-120"/>
              </a:rPr>
              <a:t>2024-3-60-230</a:t>
            </a:r>
            <a:endParaRPr lang="en-US" sz="1300" dirty="0"/>
          </a:p>
        </p:txBody>
      </p:sp>
      <p:sp>
        <p:nvSpPr>
          <p:cNvPr id="12" name="Text 10"/>
          <p:cNvSpPr/>
          <p:nvPr/>
        </p:nvSpPr>
        <p:spPr>
          <a:xfrm>
            <a:off x="822960" y="5605272"/>
            <a:ext cx="420624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Sanjida Alam Mithi</a:t>
            </a:r>
            <a:endParaRPr lang="en-US" sz="1400" dirty="0"/>
          </a:p>
        </p:txBody>
      </p:sp>
      <p:sp>
        <p:nvSpPr>
          <p:cNvPr id="13" name="Text 11"/>
          <p:cNvSpPr/>
          <p:nvPr/>
        </p:nvSpPr>
        <p:spPr>
          <a:xfrm>
            <a:off x="5120640" y="5605272"/>
            <a:ext cx="2377440" cy="365760"/>
          </a:xfrm>
          <a:prstGeom prst="rect">
            <a:avLst/>
          </a:prstGeom>
          <a:noFill/>
          <a:ln/>
        </p:spPr>
        <p:txBody>
          <a:bodyPr wrap="square" rtlCol="0" anchor="ctr"/>
          <a:lstStyle/>
          <a:p>
            <a:pPr indent="0" marL="0">
              <a:buNone/>
            </a:pPr>
            <a:r>
              <a:rPr lang="en-US" sz="1300" dirty="0">
                <a:solidFill>
                  <a:srgbClr val="9FC4C4"/>
                </a:solidFill>
                <a:latin typeface="Courier New" pitchFamily="34" charset="0"/>
                <a:ea typeface="Courier New" pitchFamily="34" charset="-122"/>
                <a:cs typeface="Courier New" pitchFamily="34" charset="-120"/>
              </a:rPr>
              <a:t>2025-1-60-355</a:t>
            </a:r>
            <a:endParaRPr lang="en-US" sz="1300" dirty="0"/>
          </a:p>
        </p:txBody>
      </p:sp>
      <p:sp>
        <p:nvSpPr>
          <p:cNvPr id="14" name="Text 12"/>
          <p:cNvSpPr/>
          <p:nvPr/>
        </p:nvSpPr>
        <p:spPr>
          <a:xfrm>
            <a:off x="822960" y="6007608"/>
            <a:ext cx="420624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Awandrila Sarker</a:t>
            </a:r>
            <a:endParaRPr lang="en-US" sz="1400" dirty="0"/>
          </a:p>
        </p:txBody>
      </p:sp>
      <p:sp>
        <p:nvSpPr>
          <p:cNvPr id="15" name="Text 13"/>
          <p:cNvSpPr/>
          <p:nvPr/>
        </p:nvSpPr>
        <p:spPr>
          <a:xfrm>
            <a:off x="5120640" y="6007608"/>
            <a:ext cx="2377440" cy="365760"/>
          </a:xfrm>
          <a:prstGeom prst="rect">
            <a:avLst/>
          </a:prstGeom>
          <a:noFill/>
          <a:ln/>
        </p:spPr>
        <p:txBody>
          <a:bodyPr wrap="square" rtlCol="0" anchor="ctr"/>
          <a:lstStyle/>
          <a:p>
            <a:pPr indent="0" marL="0">
              <a:buNone/>
            </a:pPr>
            <a:r>
              <a:rPr lang="en-US" sz="1300" dirty="0">
                <a:solidFill>
                  <a:srgbClr val="9FC4C4"/>
                </a:solidFill>
                <a:latin typeface="Courier New" pitchFamily="34" charset="0"/>
                <a:ea typeface="Courier New" pitchFamily="34" charset="-122"/>
                <a:cs typeface="Courier New" pitchFamily="34" charset="-120"/>
              </a:rPr>
              <a:t>2025-1-60-365</a:t>
            </a:r>
            <a:endParaRPr lang="en-US" sz="1300" dirty="0"/>
          </a:p>
        </p:txBody>
      </p:sp>
      <p:sp>
        <p:nvSpPr>
          <p:cNvPr id="16" name="Text 1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E8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82296" cy="310896"/>
          </a:xfrm>
          <a:prstGeom prst="rect">
            <a:avLst/>
          </a:prstGeom>
          <a:solidFill>
            <a:srgbClr val="C99A3E"/>
          </a:solidFill>
          <a:ln/>
        </p:spPr>
      </p:sp>
      <p:sp>
        <p:nvSpPr>
          <p:cNvPr id="3" name="Text 1"/>
          <p:cNvSpPr/>
          <p:nvPr/>
        </p:nvSpPr>
        <p:spPr>
          <a:xfrm>
            <a:off x="804672" y="411480"/>
            <a:ext cx="548640" cy="365760"/>
          </a:xfrm>
          <a:prstGeom prst="rect">
            <a:avLst/>
          </a:prstGeom>
          <a:noFill/>
          <a:ln/>
        </p:spPr>
        <p:txBody>
          <a:bodyPr wrap="square" rtlCol="0" anchor="ctr"/>
          <a:lstStyle/>
          <a:p>
            <a:pPr indent="0" marL="0">
              <a:buNone/>
            </a:pPr>
            <a:r>
              <a:rPr lang="en-US" sz="1200" b="1" dirty="0">
                <a:solidFill>
                  <a:srgbClr val="C99A3E"/>
                </a:solidFill>
                <a:latin typeface="Calibri" pitchFamily="34" charset="0"/>
                <a:ea typeface="Calibri" pitchFamily="34" charset="-122"/>
                <a:cs typeface="Calibri" pitchFamily="34" charset="-120"/>
              </a:rPr>
              <a:t>01</a:t>
            </a:r>
            <a:endParaRPr lang="en-US" sz="1200" dirty="0"/>
          </a:p>
        </p:txBody>
      </p:sp>
      <p:sp>
        <p:nvSpPr>
          <p:cNvPr id="4" name="Text 2"/>
          <p:cNvSpPr/>
          <p:nvPr/>
        </p:nvSpPr>
        <p:spPr>
          <a:xfrm>
            <a:off x="1097280" y="411480"/>
            <a:ext cx="7315200" cy="365760"/>
          </a:xfrm>
          <a:prstGeom prst="rect">
            <a:avLst/>
          </a:prstGeom>
          <a:noFill/>
          <a:ln/>
        </p:spPr>
        <p:txBody>
          <a:bodyPr wrap="square" rtlCol="0" anchor="ctr"/>
          <a:lstStyle/>
          <a:p>
            <a:pPr indent="0" marL="0">
              <a:buNone/>
            </a:pPr>
            <a:r>
              <a:rPr lang="en-US" sz="1200" b="1" spc="150" kern="0" dirty="0">
                <a:solidFill>
                  <a:srgbClr val="5B6472"/>
                </a:solidFill>
                <a:latin typeface="Calibri" pitchFamily="34" charset="0"/>
                <a:ea typeface="Calibri" pitchFamily="34" charset="-122"/>
                <a:cs typeface="Calibri" pitchFamily="34" charset="-120"/>
              </a:rPr>
              <a:t>PROJECT OVERVIEW</a:t>
            </a:r>
            <a:endParaRPr lang="en-US" sz="1200" dirty="0"/>
          </a:p>
        </p:txBody>
      </p:sp>
      <p:sp>
        <p:nvSpPr>
          <p:cNvPr id="5" name="Shape 3"/>
          <p:cNvSpPr/>
          <p:nvPr/>
        </p:nvSpPr>
        <p:spPr>
          <a:xfrm>
            <a:off x="640080" y="786384"/>
            <a:ext cx="10881360" cy="0"/>
          </a:xfrm>
          <a:prstGeom prst="line">
            <a:avLst/>
          </a:prstGeom>
          <a:noFill/>
          <a:ln w="9525">
            <a:solidFill>
              <a:srgbClr val="D8DEE4"/>
            </a:solidFill>
            <a:prstDash val="solid"/>
          </a:ln>
        </p:spPr>
      </p:sp>
      <p:sp>
        <p:nvSpPr>
          <p:cNvPr id="6" name="Text 4"/>
          <p:cNvSpPr/>
          <p:nvPr/>
        </p:nvSpPr>
        <p:spPr>
          <a:xfrm>
            <a:off x="640080" y="914400"/>
            <a:ext cx="10881360" cy="777240"/>
          </a:xfrm>
          <a:prstGeom prst="rect">
            <a:avLst/>
          </a:prstGeom>
          <a:noFill/>
          <a:ln/>
        </p:spPr>
        <p:txBody>
          <a:bodyPr wrap="square" rtlCol="0" anchor="ctr"/>
          <a:lstStyle/>
          <a:p>
            <a:pPr indent="0" marL="0">
              <a:buNone/>
            </a:pPr>
            <a:r>
              <a:rPr lang="en-US" sz="2800" b="1" dirty="0">
                <a:solidFill>
                  <a:srgbClr val="0A1930"/>
                </a:solidFill>
                <a:latin typeface="Cambria" pitchFamily="34" charset="0"/>
                <a:ea typeface="Cambria" pitchFamily="34" charset="-122"/>
                <a:cs typeface="Cambria" pitchFamily="34" charset="-120"/>
              </a:rPr>
              <a:t>Project Intention &amp; Purpose</a:t>
            </a:r>
            <a:endParaRPr lang="en-US" sz="2800" dirty="0"/>
          </a:p>
        </p:txBody>
      </p:sp>
      <p:sp>
        <p:nvSpPr>
          <p:cNvPr id="7" name="Text 5"/>
          <p:cNvSpPr/>
          <p:nvPr/>
        </p:nvSpPr>
        <p:spPr>
          <a:xfrm>
            <a:off x="640080" y="1874520"/>
            <a:ext cx="5303520" cy="320040"/>
          </a:xfrm>
          <a:prstGeom prst="rect">
            <a:avLst/>
          </a:prstGeom>
          <a:noFill/>
          <a:ln/>
        </p:spPr>
        <p:txBody>
          <a:bodyPr wrap="square" rtlCol="0" anchor="ctr"/>
          <a:lstStyle/>
          <a:p>
            <a:pPr indent="0" marL="0">
              <a:buNone/>
            </a:pPr>
            <a:r>
              <a:rPr lang="en-US" sz="1400" b="1" dirty="0">
                <a:solidFill>
                  <a:srgbClr val="0A4C8A"/>
                </a:solidFill>
                <a:latin typeface="Calibri" pitchFamily="34" charset="0"/>
                <a:ea typeface="Calibri" pitchFamily="34" charset="-122"/>
                <a:cs typeface="Calibri" pitchFamily="34" charset="-120"/>
              </a:rPr>
              <a:t>The problem</a:t>
            </a:r>
            <a:endParaRPr lang="en-US" sz="1400" dirty="0"/>
          </a:p>
        </p:txBody>
      </p:sp>
      <p:sp>
        <p:nvSpPr>
          <p:cNvPr id="8" name="Text 6"/>
          <p:cNvSpPr/>
          <p:nvPr/>
        </p:nvSpPr>
        <p:spPr>
          <a:xfrm>
            <a:off x="640080" y="2212848"/>
            <a:ext cx="5303520" cy="1737360"/>
          </a:xfrm>
          <a:prstGeom prst="rect">
            <a:avLst/>
          </a:prstGeom>
          <a:noFill/>
          <a:ln/>
        </p:spPr>
        <p:txBody>
          <a:bodyPr wrap="square" rtlCol="0" anchor="ctr"/>
          <a:lstStyle/>
          <a:p>
            <a:pPr indent="0" marL="0">
              <a:lnSpc>
                <a:spcPct val="135000"/>
              </a:lnSpc>
              <a:buNone/>
            </a:pPr>
            <a:r>
              <a:rPr lang="en-US" sz="1250" dirty="0">
                <a:solidFill>
                  <a:srgbClr val="1B1F27"/>
                </a:solidFill>
                <a:latin typeface="Calibri" pitchFamily="34" charset="0"/>
                <a:ea typeface="Calibri" pitchFamily="34" charset="-122"/>
                <a:cs typeface="Calibri" pitchFamily="34" charset="-120"/>
              </a:rPr>
              <a:t>Dhaka is a dense, low-lying megacity where heavy monsoon rain causes sudden waterlogging. Standard navigation apps have no way to know which roads are submerged, so they route drivers straight onto flooded streets — stranding commuters and, worse, delaying ambulances and emergency responders when minutes matter.</a:t>
            </a:r>
            <a:endParaRPr lang="en-US" sz="1250" dirty="0"/>
          </a:p>
        </p:txBody>
      </p:sp>
      <p:sp>
        <p:nvSpPr>
          <p:cNvPr id="9" name="Text 7"/>
          <p:cNvSpPr/>
          <p:nvPr/>
        </p:nvSpPr>
        <p:spPr>
          <a:xfrm>
            <a:off x="640080" y="4114800"/>
            <a:ext cx="5303520" cy="320040"/>
          </a:xfrm>
          <a:prstGeom prst="rect">
            <a:avLst/>
          </a:prstGeom>
          <a:noFill/>
          <a:ln/>
        </p:spPr>
        <p:txBody>
          <a:bodyPr wrap="square" rtlCol="0" anchor="ctr"/>
          <a:lstStyle/>
          <a:p>
            <a:pPr indent="0" marL="0">
              <a:buNone/>
            </a:pPr>
            <a:r>
              <a:rPr lang="en-US" sz="1400" b="1" dirty="0">
                <a:solidFill>
                  <a:srgbClr val="0A4C8A"/>
                </a:solidFill>
                <a:latin typeface="Calibri" pitchFamily="34" charset="0"/>
                <a:ea typeface="Calibri" pitchFamily="34" charset="-122"/>
                <a:cs typeface="Calibri" pitchFamily="34" charset="-120"/>
              </a:rPr>
              <a:t>Why it needed solving now</a:t>
            </a:r>
            <a:endParaRPr lang="en-US" sz="1400" dirty="0"/>
          </a:p>
        </p:txBody>
      </p:sp>
      <p:sp>
        <p:nvSpPr>
          <p:cNvPr id="10" name="Text 8"/>
          <p:cNvSpPr/>
          <p:nvPr/>
        </p:nvSpPr>
        <p:spPr>
          <a:xfrm>
            <a:off x="640080" y="4453128"/>
            <a:ext cx="5303520" cy="1463040"/>
          </a:xfrm>
          <a:prstGeom prst="rect">
            <a:avLst/>
          </a:prstGeom>
          <a:noFill/>
          <a:ln/>
        </p:spPr>
        <p:txBody>
          <a:bodyPr wrap="square" rtlCol="0" anchor="ctr"/>
          <a:lstStyle/>
          <a:p>
            <a:pPr indent="0" marL="0">
              <a:lnSpc>
                <a:spcPct val="135000"/>
              </a:lnSpc>
              <a:buNone/>
            </a:pPr>
            <a:r>
              <a:rPr lang="en-US" sz="1250" dirty="0">
                <a:solidFill>
                  <a:srgbClr val="1B1F27"/>
                </a:solidFill>
                <a:latin typeface="Calibri" pitchFamily="34" charset="0"/>
                <a:ea typeface="Calibri" pitchFamily="34" charset="-122"/>
                <a:cs typeface="Calibri" pitchFamily="34" charset="-120"/>
              </a:rPr>
              <a:t>Mobile networks overload in monsoon conditions too, so live map data disappears at exactly the moment it's needed most. Having just covered Dijkstra's, Bellman-Ford, and A* Search in this course, building an offline solution felt like a natural fit.</a:t>
            </a:r>
            <a:endParaRPr lang="en-US" sz="1250" dirty="0"/>
          </a:p>
        </p:txBody>
      </p:sp>
      <p:sp>
        <p:nvSpPr>
          <p:cNvPr id="11" name="Shape 9"/>
          <p:cNvSpPr/>
          <p:nvPr/>
        </p:nvSpPr>
        <p:spPr>
          <a:xfrm>
            <a:off x="6400800" y="1874520"/>
            <a:ext cx="5120640" cy="4480560"/>
          </a:xfrm>
          <a:prstGeom prst="rect">
            <a:avLst/>
          </a:prstGeom>
          <a:solidFill>
            <a:srgbClr val="F1F6F8"/>
          </a:solidFill>
          <a:ln w="9525">
            <a:solidFill>
              <a:srgbClr val="D8DEE4"/>
            </a:solidFill>
            <a:prstDash val="solid"/>
          </a:ln>
        </p:spPr>
      </p:sp>
      <p:sp>
        <p:nvSpPr>
          <p:cNvPr id="12" name="Text 10"/>
          <p:cNvSpPr/>
          <p:nvPr/>
        </p:nvSpPr>
        <p:spPr>
          <a:xfrm>
            <a:off x="6766560" y="2194560"/>
            <a:ext cx="4389120" cy="320040"/>
          </a:xfrm>
          <a:prstGeom prst="rect">
            <a:avLst/>
          </a:prstGeom>
          <a:noFill/>
          <a:ln/>
        </p:spPr>
        <p:txBody>
          <a:bodyPr wrap="square" rtlCol="0" anchor="ctr"/>
          <a:lstStyle/>
          <a:p>
            <a:pPr indent="0" marL="0">
              <a:buNone/>
            </a:pPr>
            <a:r>
              <a:rPr lang="en-US" sz="1100" b="1" spc="150" kern="0" dirty="0">
                <a:solidFill>
                  <a:srgbClr val="0E8C8C"/>
                </a:solidFill>
                <a:latin typeface="Calibri" pitchFamily="34" charset="0"/>
                <a:ea typeface="Calibri" pitchFamily="34" charset="-122"/>
                <a:cs typeface="Calibri" pitchFamily="34" charset="-120"/>
              </a:rPr>
              <a:t>PURPOSE</a:t>
            </a:r>
            <a:endParaRPr lang="en-US" sz="1100" dirty="0"/>
          </a:p>
        </p:txBody>
      </p:sp>
      <p:sp>
        <p:nvSpPr>
          <p:cNvPr id="13" name="Text 11"/>
          <p:cNvSpPr/>
          <p:nvPr/>
        </p:nvSpPr>
        <p:spPr>
          <a:xfrm>
            <a:off x="6766560" y="2587752"/>
            <a:ext cx="4389120" cy="1188720"/>
          </a:xfrm>
          <a:prstGeom prst="rect">
            <a:avLst/>
          </a:prstGeom>
          <a:noFill/>
          <a:ln/>
        </p:spPr>
        <p:txBody>
          <a:bodyPr wrap="square" rtlCol="0" anchor="ctr"/>
          <a:lstStyle/>
          <a:p>
            <a:pPr indent="0" marL="0">
              <a:lnSpc>
                <a:spcPct val="135000"/>
              </a:lnSpc>
              <a:buNone/>
            </a:pPr>
            <a:r>
              <a:rPr lang="en-US" sz="1300" i="1" dirty="0">
                <a:solidFill>
                  <a:srgbClr val="1B1F27"/>
                </a:solidFill>
                <a:latin typeface="Calibri" pitchFamily="34" charset="0"/>
                <a:ea typeface="Calibri" pitchFamily="34" charset="-122"/>
                <a:cs typeface="Calibri" pitchFamily="34" charset="-120"/>
              </a:rPr>
              <a:t>Build an offline, C++ route-finding tool that models Dhaka's roads as a graph and excludes flooded segments automatically — so a safe path can still be found even with no internet connection.</a:t>
            </a:r>
            <a:endParaRPr lang="en-US" sz="1300" dirty="0"/>
          </a:p>
        </p:txBody>
      </p:sp>
      <p:sp>
        <p:nvSpPr>
          <p:cNvPr id="14" name="Shape 12"/>
          <p:cNvSpPr/>
          <p:nvPr/>
        </p:nvSpPr>
        <p:spPr>
          <a:xfrm>
            <a:off x="6766560" y="3931920"/>
            <a:ext cx="4389120" cy="0"/>
          </a:xfrm>
          <a:prstGeom prst="line">
            <a:avLst/>
          </a:prstGeom>
          <a:noFill/>
          <a:ln w="9525">
            <a:solidFill>
              <a:srgbClr val="D8DEE4"/>
            </a:solidFill>
            <a:prstDash val="solid"/>
          </a:ln>
        </p:spPr>
      </p:sp>
      <p:sp>
        <p:nvSpPr>
          <p:cNvPr id="15" name="Text 13"/>
          <p:cNvSpPr/>
          <p:nvPr/>
        </p:nvSpPr>
        <p:spPr>
          <a:xfrm>
            <a:off x="6766560" y="4114800"/>
            <a:ext cx="4389120" cy="320040"/>
          </a:xfrm>
          <a:prstGeom prst="rect">
            <a:avLst/>
          </a:prstGeom>
          <a:noFill/>
          <a:ln/>
        </p:spPr>
        <p:txBody>
          <a:bodyPr wrap="square" rtlCol="0" anchor="ctr"/>
          <a:lstStyle/>
          <a:p>
            <a:pPr indent="0" marL="0">
              <a:buNone/>
            </a:pPr>
            <a:r>
              <a:rPr lang="en-US" sz="1100" b="1" spc="150" kern="0" dirty="0">
                <a:solidFill>
                  <a:srgbClr val="0E8C8C"/>
                </a:solidFill>
                <a:latin typeface="Calibri" pitchFamily="34" charset="0"/>
                <a:ea typeface="Calibri" pitchFamily="34" charset="-122"/>
                <a:cs typeface="Calibri" pitchFamily="34" charset="-120"/>
              </a:rPr>
              <a:t>GOALS</a:t>
            </a:r>
            <a:endParaRPr lang="en-US" sz="1100" dirty="0"/>
          </a:p>
        </p:txBody>
      </p:sp>
      <p:sp>
        <p:nvSpPr>
          <p:cNvPr id="16" name="Text 14"/>
          <p:cNvSpPr/>
          <p:nvPr/>
        </p:nvSpPr>
        <p:spPr>
          <a:xfrm>
            <a:off x="6766560" y="4480560"/>
            <a:ext cx="4389120" cy="457200"/>
          </a:xfrm>
          <a:prstGeom prst="rect">
            <a:avLst/>
          </a:prstGeom>
          <a:noFill/>
          <a:ln/>
        </p:spPr>
        <p:txBody>
          <a:bodyPr wrap="square" rtlCol="0" anchor="ctr"/>
          <a:lstStyle/>
          <a:p>
            <a:pPr marL="342900" indent="-342900">
              <a:buSzPct val="100000"/>
              <a:buChar char="–"/>
            </a:pPr>
            <a:r>
              <a:rPr lang="en-US" sz="1200" dirty="0">
                <a:solidFill>
                  <a:srgbClr val="1B1F27"/>
                </a:solidFill>
                <a:latin typeface="Calibri" pitchFamily="34" charset="0"/>
                <a:ea typeface="Calibri" pitchFamily="34" charset="-122"/>
                <a:cs typeface="Calibri" pitchFamily="34" charset="-120"/>
              </a:rPr>
              <a:t>Model roads as a weighted graph with a live flood status per edge</a:t>
            </a:r>
            <a:endParaRPr lang="en-US" sz="1200" dirty="0"/>
          </a:p>
        </p:txBody>
      </p:sp>
      <p:sp>
        <p:nvSpPr>
          <p:cNvPr id="17" name="Text 15"/>
          <p:cNvSpPr/>
          <p:nvPr/>
        </p:nvSpPr>
        <p:spPr>
          <a:xfrm>
            <a:off x="6766560" y="4983480"/>
            <a:ext cx="4389120" cy="457200"/>
          </a:xfrm>
          <a:prstGeom prst="rect">
            <a:avLst/>
          </a:prstGeom>
          <a:noFill/>
          <a:ln/>
        </p:spPr>
        <p:txBody>
          <a:bodyPr wrap="square" rtlCol="0" anchor="ctr"/>
          <a:lstStyle/>
          <a:p>
            <a:pPr marL="342900" indent="-342900">
              <a:buSzPct val="100000"/>
              <a:buChar char="–"/>
            </a:pPr>
            <a:r>
              <a:rPr lang="en-US" sz="1200" dirty="0">
                <a:solidFill>
                  <a:srgbClr val="1B1F27"/>
                </a:solidFill>
                <a:latin typeface="Calibri" pitchFamily="34" charset="0"/>
                <a:ea typeface="Calibri" pitchFamily="34" charset="-122"/>
                <a:cs typeface="Calibri" pitchFamily="34" charset="-120"/>
              </a:rPr>
              <a:t>Compare classical shortest-path algorithms on the same graph</a:t>
            </a:r>
            <a:endParaRPr lang="en-US" sz="1200" dirty="0"/>
          </a:p>
        </p:txBody>
      </p:sp>
      <p:sp>
        <p:nvSpPr>
          <p:cNvPr id="18" name="Text 16"/>
          <p:cNvSpPr/>
          <p:nvPr/>
        </p:nvSpPr>
        <p:spPr>
          <a:xfrm>
            <a:off x="6766560" y="5486400"/>
            <a:ext cx="4389120" cy="457200"/>
          </a:xfrm>
          <a:prstGeom prst="rect">
            <a:avLst/>
          </a:prstGeom>
          <a:noFill/>
          <a:ln/>
        </p:spPr>
        <p:txBody>
          <a:bodyPr wrap="square" rtlCol="0" anchor="ctr"/>
          <a:lstStyle/>
          <a:p>
            <a:pPr marL="342900" indent="-342900">
              <a:buSzPct val="100000"/>
              <a:buChar char="–"/>
            </a:pPr>
            <a:r>
              <a:rPr lang="en-US" sz="1200" dirty="0">
                <a:solidFill>
                  <a:srgbClr val="1B1F27"/>
                </a:solidFill>
                <a:latin typeface="Calibri" pitchFamily="34" charset="0"/>
                <a:ea typeface="Calibri" pitchFamily="34" charset="-122"/>
                <a:cs typeface="Calibri" pitchFamily="34" charset="-120"/>
              </a:rPr>
              <a:t>Recommend the algorithm best suited to real-time, offline use</a:t>
            </a:r>
            <a:endParaRPr lang="en-US" sz="1200" dirty="0"/>
          </a:p>
        </p:txBody>
      </p:sp>
      <p:sp>
        <p:nvSpPr>
          <p:cNvPr id="19" name="Text 1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AA5A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82296" cy="310896"/>
          </a:xfrm>
          <a:prstGeom prst="rect">
            <a:avLst/>
          </a:prstGeom>
          <a:solidFill>
            <a:srgbClr val="C99A3E"/>
          </a:solidFill>
          <a:ln/>
        </p:spPr>
      </p:sp>
      <p:sp>
        <p:nvSpPr>
          <p:cNvPr id="3" name="Text 1"/>
          <p:cNvSpPr/>
          <p:nvPr/>
        </p:nvSpPr>
        <p:spPr>
          <a:xfrm>
            <a:off x="804672" y="411480"/>
            <a:ext cx="548640" cy="365760"/>
          </a:xfrm>
          <a:prstGeom prst="rect">
            <a:avLst/>
          </a:prstGeom>
          <a:noFill/>
          <a:ln/>
        </p:spPr>
        <p:txBody>
          <a:bodyPr wrap="square" rtlCol="0" anchor="ctr"/>
          <a:lstStyle/>
          <a:p>
            <a:pPr indent="0" marL="0">
              <a:buNone/>
            </a:pPr>
            <a:r>
              <a:rPr lang="en-US" sz="1200" b="1" dirty="0">
                <a:solidFill>
                  <a:srgbClr val="C99A3E"/>
                </a:solidFill>
                <a:latin typeface="Calibri" pitchFamily="34" charset="0"/>
                <a:ea typeface="Calibri" pitchFamily="34" charset="-122"/>
                <a:cs typeface="Calibri" pitchFamily="34" charset="-120"/>
              </a:rPr>
              <a:t>02</a:t>
            </a:r>
            <a:endParaRPr lang="en-US" sz="1200" dirty="0"/>
          </a:p>
        </p:txBody>
      </p:sp>
      <p:sp>
        <p:nvSpPr>
          <p:cNvPr id="4" name="Text 2"/>
          <p:cNvSpPr/>
          <p:nvPr/>
        </p:nvSpPr>
        <p:spPr>
          <a:xfrm>
            <a:off x="1097280" y="411480"/>
            <a:ext cx="7315200" cy="365760"/>
          </a:xfrm>
          <a:prstGeom prst="rect">
            <a:avLst/>
          </a:prstGeom>
          <a:noFill/>
          <a:ln/>
        </p:spPr>
        <p:txBody>
          <a:bodyPr wrap="square" rtlCol="0" anchor="ctr"/>
          <a:lstStyle/>
          <a:p>
            <a:pPr indent="0" marL="0">
              <a:buNone/>
            </a:pPr>
            <a:r>
              <a:rPr lang="en-US" sz="1200" b="1" spc="150" kern="0" dirty="0">
                <a:solidFill>
                  <a:srgbClr val="5B6472"/>
                </a:solidFill>
                <a:latin typeface="Calibri" pitchFamily="34" charset="0"/>
                <a:ea typeface="Calibri" pitchFamily="34" charset="-122"/>
                <a:cs typeface="Calibri" pitchFamily="34" charset="-120"/>
              </a:rPr>
              <a:t>ALGORITHM SURVEY</a:t>
            </a:r>
            <a:endParaRPr lang="en-US" sz="1200" dirty="0"/>
          </a:p>
        </p:txBody>
      </p:sp>
      <p:sp>
        <p:nvSpPr>
          <p:cNvPr id="5" name="Shape 3"/>
          <p:cNvSpPr/>
          <p:nvPr/>
        </p:nvSpPr>
        <p:spPr>
          <a:xfrm>
            <a:off x="640080" y="786384"/>
            <a:ext cx="10881360" cy="0"/>
          </a:xfrm>
          <a:prstGeom prst="line">
            <a:avLst/>
          </a:prstGeom>
          <a:noFill/>
          <a:ln w="9525">
            <a:solidFill>
              <a:srgbClr val="D8DEE4"/>
            </a:solidFill>
            <a:prstDash val="solid"/>
          </a:ln>
        </p:spPr>
      </p:sp>
      <p:sp>
        <p:nvSpPr>
          <p:cNvPr id="6" name="Text 4"/>
          <p:cNvSpPr/>
          <p:nvPr/>
        </p:nvSpPr>
        <p:spPr>
          <a:xfrm>
            <a:off x="640080" y="914400"/>
            <a:ext cx="10881360" cy="777240"/>
          </a:xfrm>
          <a:prstGeom prst="rect">
            <a:avLst/>
          </a:prstGeom>
          <a:noFill/>
          <a:ln/>
        </p:spPr>
        <p:txBody>
          <a:bodyPr wrap="square" rtlCol="0" anchor="ctr"/>
          <a:lstStyle/>
          <a:p>
            <a:pPr indent="0" marL="0">
              <a:buNone/>
            </a:pPr>
            <a:r>
              <a:rPr lang="en-US" sz="2800" b="1" dirty="0">
                <a:solidFill>
                  <a:srgbClr val="0A1930"/>
                </a:solidFill>
                <a:latin typeface="Cambria" pitchFamily="34" charset="0"/>
                <a:ea typeface="Cambria" pitchFamily="34" charset="-122"/>
                <a:cs typeface="Cambria" pitchFamily="34" charset="-120"/>
              </a:rPr>
              <a:t>Potential Pathfinding Algorithms</a:t>
            </a:r>
            <a:endParaRPr lang="en-US" sz="2800" dirty="0"/>
          </a:p>
        </p:txBody>
      </p:sp>
      <p:sp>
        <p:nvSpPr>
          <p:cNvPr id="7" name="Text 5"/>
          <p:cNvSpPr/>
          <p:nvPr/>
        </p:nvSpPr>
        <p:spPr>
          <a:xfrm>
            <a:off x="640080" y="1810512"/>
            <a:ext cx="10881360" cy="594360"/>
          </a:xfrm>
          <a:prstGeom prst="rect">
            <a:avLst/>
          </a:prstGeom>
          <a:noFill/>
          <a:ln/>
        </p:spPr>
        <p:txBody>
          <a:bodyPr wrap="square" rtlCol="0" anchor="ctr"/>
          <a:lstStyle/>
          <a:p>
            <a:pPr indent="0" marL="0">
              <a:lnSpc>
                <a:spcPct val="130000"/>
              </a:lnSpc>
              <a:buNone/>
            </a:pPr>
            <a:r>
              <a:rPr lang="en-US" sz="1250" dirty="0">
                <a:solidFill>
                  <a:srgbClr val="5B6472"/>
                </a:solidFill>
                <a:latin typeface="Calibri" pitchFamily="34" charset="0"/>
                <a:ea typeface="Calibri" pitchFamily="34" charset="-122"/>
                <a:cs typeface="Calibri" pitchFamily="34" charset="-120"/>
              </a:rPr>
              <a:t>Before settling on an approach, we looked across the standard graph-traversal and shortest-path family to see which ones could realistically handle a road network with roads that switch between safe and flooded.</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881360" cy="3657600"/>
        </p:xfrm>
        <a:graphic>
          <a:graphicData uri="http://schemas.openxmlformats.org/drawingml/2006/table">
            <a:tbl>
              <a:tblPr/>
              <a:tblGrid>
                <a:gridCol w="3017520"/>
                <a:gridCol w="4206240"/>
                <a:gridCol w="3657600"/>
              </a:tblGrid>
              <a:tr h="52251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Algorithm</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9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Best known for</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9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Fit for this project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930"/>
                    </a:solidFill>
                  </a:tcPr>
                </a:tc>
              </a:tr>
              <a:tr h="522514">
                <a:tc>
                  <a:txBody>
                    <a:bodyPr/>
                    <a:lstStyle/>
                    <a:p>
                      <a:pPr indent="0" marL="0">
                        <a:buNone/>
                      </a:pPr>
                      <a:r>
                        <a:rPr lang="en-US" sz="1150" b="1" dirty="0">
                          <a:solidFill>
                            <a:srgbClr val="1B1F27"/>
                          </a:solidFill>
                          <a:latin typeface="Calibri" pitchFamily="34" charset="0"/>
                          <a:ea typeface="Calibri" pitchFamily="34" charset="-122"/>
                          <a:cs typeface="Calibri" pitchFamily="34" charset="-120"/>
                        </a:rPr>
                        <a:t>Breadth-First Search</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150" dirty="0">
                          <a:solidFill>
                            <a:srgbClr val="1B1F27"/>
                          </a:solidFill>
                          <a:latin typeface="Calibri" pitchFamily="34" charset="0"/>
                          <a:ea typeface="Calibri" pitchFamily="34" charset="-122"/>
                          <a:cs typeface="Calibri" pitchFamily="34" charset="-120"/>
                        </a:rPr>
                        <a:t>Unweighted shortest path</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150" dirty="0">
                          <a:solidFill>
                            <a:srgbClr val="1B1F27"/>
                          </a:solidFill>
                          <a:latin typeface="Calibri" pitchFamily="34" charset="0"/>
                          <a:ea typeface="Calibri" pitchFamily="34" charset="-122"/>
                          <a:cs typeface="Calibri" pitchFamily="34" charset="-120"/>
                        </a:rPr>
                        <a:t>No — ignores road distance entirely</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r>
              <a:tr h="522514">
                <a:tc>
                  <a:txBody>
                    <a:bodyPr/>
                    <a:lstStyle/>
                    <a:p>
                      <a:pPr indent="0" marL="0">
                        <a:buNone/>
                      </a:pPr>
                      <a:r>
                        <a:rPr lang="en-US" sz="1150" b="1" dirty="0">
                          <a:solidFill>
                            <a:srgbClr val="1B1F27"/>
                          </a:solidFill>
                          <a:latin typeface="Calibri" pitchFamily="34" charset="0"/>
                          <a:ea typeface="Calibri" pitchFamily="34" charset="-122"/>
                          <a:cs typeface="Calibri" pitchFamily="34" charset="-120"/>
                        </a:rPr>
                        <a:t>Depth-First Search</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150" dirty="0">
                          <a:solidFill>
                            <a:srgbClr val="1B1F27"/>
                          </a:solidFill>
                          <a:latin typeface="Calibri" pitchFamily="34" charset="0"/>
                          <a:ea typeface="Calibri" pitchFamily="34" charset="-122"/>
                          <a:cs typeface="Calibri" pitchFamily="34" charset="-120"/>
                        </a:rPr>
                        <a:t>Reachability, traversal order</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150" dirty="0">
                          <a:solidFill>
                            <a:srgbClr val="1B1F27"/>
                          </a:solidFill>
                          <a:latin typeface="Calibri" pitchFamily="34" charset="0"/>
                          <a:ea typeface="Calibri" pitchFamily="34" charset="-122"/>
                          <a:cs typeface="Calibri" pitchFamily="34" charset="-120"/>
                        </a:rPr>
                        <a:t>No — not built for shortest paths</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r>
              <a:tr h="522514">
                <a:tc>
                  <a:txBody>
                    <a:bodyPr/>
                    <a:lstStyle/>
                    <a:p>
                      <a:pPr indent="0" marL="0">
                        <a:buNone/>
                      </a:pPr>
                      <a:r>
                        <a:rPr lang="en-US" sz="1150" b="1" dirty="0">
                          <a:solidFill>
                            <a:srgbClr val="1B1F27"/>
                          </a:solidFill>
                          <a:latin typeface="Calibri" pitchFamily="34" charset="0"/>
                          <a:ea typeface="Calibri" pitchFamily="34" charset="-122"/>
                          <a:cs typeface="Calibri" pitchFamily="34" charset="-120"/>
                        </a:rPr>
                        <a:t>Dijkstra's Algorithm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150" dirty="0">
                          <a:solidFill>
                            <a:srgbClr val="1B1F27"/>
                          </a:solidFill>
                          <a:latin typeface="Calibri" pitchFamily="34" charset="0"/>
                          <a:ea typeface="Calibri" pitchFamily="34" charset="-122"/>
                          <a:cs typeface="Calibri" pitchFamily="34" charset="-120"/>
                        </a:rPr>
                        <a:t>Weighted shortest path, non-negative weights</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150" dirty="0">
                          <a:solidFill>
                            <a:srgbClr val="1B1F27"/>
                          </a:solidFill>
                          <a:latin typeface="Calibri" pitchFamily="34" charset="0"/>
                          <a:ea typeface="Calibri" pitchFamily="34" charset="-122"/>
                          <a:cs typeface="Calibri" pitchFamily="34" charset="-120"/>
                        </a:rPr>
                        <a:t>Yes — exact distances on safe roads</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E7F1F0"/>
                    </a:solidFill>
                  </a:tcPr>
                </a:tc>
              </a:tr>
              <a:tr h="522514">
                <a:tc>
                  <a:txBody>
                    <a:bodyPr/>
                    <a:lstStyle/>
                    <a:p>
                      <a:pPr indent="0" marL="0">
                        <a:buNone/>
                      </a:pPr>
                      <a:r>
                        <a:rPr lang="en-US" sz="1150" b="1" dirty="0">
                          <a:solidFill>
                            <a:srgbClr val="1B1F27"/>
                          </a:solidFill>
                          <a:latin typeface="Calibri" pitchFamily="34" charset="0"/>
                          <a:ea typeface="Calibri" pitchFamily="34" charset="-122"/>
                          <a:cs typeface="Calibri" pitchFamily="34" charset="-120"/>
                        </a:rPr>
                        <a:t>Bellman-Ford Algorithm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150" dirty="0">
                          <a:solidFill>
                            <a:srgbClr val="1B1F27"/>
                          </a:solidFill>
                          <a:latin typeface="Calibri" pitchFamily="34" charset="0"/>
                          <a:ea typeface="Calibri" pitchFamily="34" charset="-122"/>
                          <a:cs typeface="Calibri" pitchFamily="34" charset="-120"/>
                        </a:rPr>
                        <a:t>Weighted paths + negative-cycle checks</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150" dirty="0">
                          <a:solidFill>
                            <a:srgbClr val="1B1F27"/>
                          </a:solidFill>
                          <a:latin typeface="Calibri" pitchFamily="34" charset="0"/>
                          <a:ea typeface="Calibri" pitchFamily="34" charset="-122"/>
                          <a:cs typeface="Calibri" pitchFamily="34" charset="-120"/>
                        </a:rPr>
                        <a:t>Yes — validates the network is well-formed</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E7F1F0"/>
                    </a:solidFill>
                  </a:tcPr>
                </a:tc>
              </a:tr>
              <a:tr h="522514">
                <a:tc>
                  <a:txBody>
                    <a:bodyPr/>
                    <a:lstStyle/>
                    <a:p>
                      <a:pPr indent="0" marL="0">
                        <a:buNone/>
                      </a:pPr>
                      <a:r>
                        <a:rPr lang="en-US" sz="1150" b="1" dirty="0">
                          <a:solidFill>
                            <a:srgbClr val="1B1F27"/>
                          </a:solidFill>
                          <a:latin typeface="Calibri" pitchFamily="34" charset="0"/>
                          <a:ea typeface="Calibri" pitchFamily="34" charset="-122"/>
                          <a:cs typeface="Calibri" pitchFamily="34" charset="-120"/>
                        </a:rPr>
                        <a:t>Floyd-Warshall Algorithm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150" dirty="0">
                          <a:solidFill>
                            <a:srgbClr val="1B1F27"/>
                          </a:solidFill>
                          <a:latin typeface="Calibri" pitchFamily="34" charset="0"/>
                          <a:ea typeface="Calibri" pitchFamily="34" charset="-122"/>
                          <a:cs typeface="Calibri" pitchFamily="34" charset="-120"/>
                        </a:rPr>
                        <a:t>All-pairs shortest paths</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150" dirty="0">
                          <a:solidFill>
                            <a:srgbClr val="1B1F27"/>
                          </a:solidFill>
                          <a:latin typeface="Calibri" pitchFamily="34" charset="0"/>
                          <a:ea typeface="Calibri" pitchFamily="34" charset="-122"/>
                          <a:cs typeface="Calibri" pitchFamily="34" charset="-120"/>
                        </a:rPr>
                        <a:t>No — O(V³) is overkill for one route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r>
              <a:tr h="522514">
                <a:tc>
                  <a:txBody>
                    <a:bodyPr/>
                    <a:lstStyle/>
                    <a:p>
                      <a:pPr indent="0" marL="0">
                        <a:buNone/>
                      </a:pPr>
                      <a:r>
                        <a:rPr lang="en-US" sz="1150" b="1" dirty="0">
                          <a:solidFill>
                            <a:srgbClr val="1B1F27"/>
                          </a:solidFill>
                          <a:latin typeface="Calibri" pitchFamily="34" charset="0"/>
                          <a:ea typeface="Calibri" pitchFamily="34" charset="-122"/>
                          <a:cs typeface="Calibri" pitchFamily="34" charset="-120"/>
                        </a:rPr>
                        <a:t>A* Search</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150" dirty="0">
                          <a:solidFill>
                            <a:srgbClr val="1B1F27"/>
                          </a:solidFill>
                          <a:latin typeface="Calibri" pitchFamily="34" charset="0"/>
                          <a:ea typeface="Calibri" pitchFamily="34" charset="-122"/>
                          <a:cs typeface="Calibri" pitchFamily="34" charset="-120"/>
                        </a:rPr>
                        <a:t>Heuristic-guided shortest path</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150" dirty="0">
                          <a:solidFill>
                            <a:srgbClr val="1B1F27"/>
                          </a:solidFill>
                          <a:latin typeface="Calibri" pitchFamily="34" charset="0"/>
                          <a:ea typeface="Calibri" pitchFamily="34" charset="-122"/>
                          <a:cs typeface="Calibri" pitchFamily="34" charset="-120"/>
                        </a:rPr>
                        <a:t>Yes — fastest for point-to-point, real-time use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E7F1F0"/>
                    </a:solidFill>
                  </a:tcPr>
                </a:tc>
              </a:tr>
            </a:tbl>
          </a:graphicData>
        </a:graphic>
      </p:graphicFrame>
      <p:sp>
        <p:nvSpPr>
          <p:cNvPr id="9" name="Text 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AA5A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82296" cy="310896"/>
          </a:xfrm>
          <a:prstGeom prst="rect">
            <a:avLst/>
          </a:prstGeom>
          <a:solidFill>
            <a:srgbClr val="C99A3E"/>
          </a:solidFill>
          <a:ln/>
        </p:spPr>
      </p:sp>
      <p:sp>
        <p:nvSpPr>
          <p:cNvPr id="3" name="Text 1"/>
          <p:cNvSpPr/>
          <p:nvPr/>
        </p:nvSpPr>
        <p:spPr>
          <a:xfrm>
            <a:off x="804672" y="411480"/>
            <a:ext cx="548640" cy="365760"/>
          </a:xfrm>
          <a:prstGeom prst="rect">
            <a:avLst/>
          </a:prstGeom>
          <a:noFill/>
          <a:ln/>
        </p:spPr>
        <p:txBody>
          <a:bodyPr wrap="square" rtlCol="0" anchor="ctr"/>
          <a:lstStyle/>
          <a:p>
            <a:pPr indent="0" marL="0">
              <a:buNone/>
            </a:pPr>
            <a:r>
              <a:rPr lang="en-US" sz="1200" b="1" dirty="0">
                <a:solidFill>
                  <a:srgbClr val="C99A3E"/>
                </a:solidFill>
                <a:latin typeface="Calibri" pitchFamily="34" charset="0"/>
                <a:ea typeface="Calibri" pitchFamily="34" charset="-122"/>
                <a:cs typeface="Calibri" pitchFamily="34" charset="-120"/>
              </a:rPr>
              <a:t>03</a:t>
            </a:r>
            <a:endParaRPr lang="en-US" sz="1200" dirty="0"/>
          </a:p>
        </p:txBody>
      </p:sp>
      <p:sp>
        <p:nvSpPr>
          <p:cNvPr id="4" name="Text 2"/>
          <p:cNvSpPr/>
          <p:nvPr/>
        </p:nvSpPr>
        <p:spPr>
          <a:xfrm>
            <a:off x="1097280" y="411480"/>
            <a:ext cx="7315200" cy="365760"/>
          </a:xfrm>
          <a:prstGeom prst="rect">
            <a:avLst/>
          </a:prstGeom>
          <a:noFill/>
          <a:ln/>
        </p:spPr>
        <p:txBody>
          <a:bodyPr wrap="square" rtlCol="0" anchor="ctr"/>
          <a:lstStyle/>
          <a:p>
            <a:pPr indent="0" marL="0">
              <a:buNone/>
            </a:pPr>
            <a:r>
              <a:rPr lang="en-US" sz="1200" b="1" spc="150" kern="0" dirty="0">
                <a:solidFill>
                  <a:srgbClr val="5B6472"/>
                </a:solidFill>
                <a:latin typeface="Calibri" pitchFamily="34" charset="0"/>
                <a:ea typeface="Calibri" pitchFamily="34" charset="-122"/>
                <a:cs typeface="Calibri" pitchFamily="34" charset="-120"/>
              </a:rPr>
              <a:t>DESIGN DECISION</a:t>
            </a:r>
            <a:endParaRPr lang="en-US" sz="1200" dirty="0"/>
          </a:p>
        </p:txBody>
      </p:sp>
      <p:sp>
        <p:nvSpPr>
          <p:cNvPr id="5" name="Shape 3"/>
          <p:cNvSpPr/>
          <p:nvPr/>
        </p:nvSpPr>
        <p:spPr>
          <a:xfrm>
            <a:off x="640080" y="786384"/>
            <a:ext cx="10881360" cy="0"/>
          </a:xfrm>
          <a:prstGeom prst="line">
            <a:avLst/>
          </a:prstGeom>
          <a:noFill/>
          <a:ln w="9525">
            <a:solidFill>
              <a:srgbClr val="D8DEE4"/>
            </a:solidFill>
            <a:prstDash val="solid"/>
          </a:ln>
        </p:spPr>
      </p:sp>
      <p:sp>
        <p:nvSpPr>
          <p:cNvPr id="6" name="Text 4"/>
          <p:cNvSpPr/>
          <p:nvPr/>
        </p:nvSpPr>
        <p:spPr>
          <a:xfrm>
            <a:off x="640080" y="914400"/>
            <a:ext cx="10881360" cy="777240"/>
          </a:xfrm>
          <a:prstGeom prst="rect">
            <a:avLst/>
          </a:prstGeom>
          <a:noFill/>
          <a:ln/>
        </p:spPr>
        <p:txBody>
          <a:bodyPr wrap="square" rtlCol="0" anchor="ctr"/>
          <a:lstStyle/>
          <a:p>
            <a:pPr indent="0" marL="0">
              <a:buNone/>
            </a:pPr>
            <a:r>
              <a:rPr lang="en-US" sz="2800" b="1" dirty="0">
                <a:solidFill>
                  <a:srgbClr val="0A1930"/>
                </a:solidFill>
                <a:latin typeface="Cambria" pitchFamily="34" charset="0"/>
                <a:ea typeface="Cambria" pitchFamily="34" charset="-122"/>
                <a:cs typeface="Cambria" pitchFamily="34" charset="-120"/>
              </a:rPr>
              <a:t>Selected Algorithms &amp; Rationale</a:t>
            </a:r>
            <a:endParaRPr lang="en-US" sz="2800" dirty="0"/>
          </a:p>
        </p:txBody>
      </p:sp>
      <p:sp>
        <p:nvSpPr>
          <p:cNvPr id="7" name="Text 5"/>
          <p:cNvSpPr/>
          <p:nvPr/>
        </p:nvSpPr>
        <p:spPr>
          <a:xfrm>
            <a:off x="640080" y="1810512"/>
            <a:ext cx="10881360" cy="502920"/>
          </a:xfrm>
          <a:prstGeom prst="rect">
            <a:avLst/>
          </a:prstGeom>
          <a:noFill/>
          <a:ln/>
        </p:spPr>
        <p:txBody>
          <a:bodyPr wrap="square" rtlCol="0" anchor="ctr"/>
          <a:lstStyle/>
          <a:p>
            <a:pPr indent="0" marL="0">
              <a:lnSpc>
                <a:spcPct val="130000"/>
              </a:lnSpc>
              <a:buNone/>
            </a:pPr>
            <a:r>
              <a:rPr lang="en-US" sz="1250" dirty="0">
                <a:solidFill>
                  <a:srgbClr val="5B6472"/>
                </a:solidFill>
                <a:latin typeface="Calibri" pitchFamily="34" charset="0"/>
                <a:ea typeface="Calibri" pitchFamily="34" charset="-122"/>
                <a:cs typeface="Calibri" pitchFamily="34" charset="-120"/>
              </a:rPr>
              <a:t>Three algorithms made the cut — each covers a gap the others leave open, so together they give the system both correctness guarantees and real-time speed.</a:t>
            </a:r>
            <a:endParaRPr lang="en-US" sz="1250" dirty="0"/>
          </a:p>
        </p:txBody>
      </p:sp>
      <p:sp>
        <p:nvSpPr>
          <p:cNvPr id="8" name="Shape 6"/>
          <p:cNvSpPr/>
          <p:nvPr/>
        </p:nvSpPr>
        <p:spPr>
          <a:xfrm>
            <a:off x="640080" y="2514600"/>
            <a:ext cx="10881360" cy="0"/>
          </a:xfrm>
          <a:prstGeom prst="line">
            <a:avLst/>
          </a:prstGeom>
          <a:noFill/>
          <a:ln w="9525">
            <a:solidFill>
              <a:srgbClr val="D8DEE4"/>
            </a:solidFill>
            <a:prstDash val="solid"/>
          </a:ln>
        </p:spPr>
      </p:sp>
      <p:sp>
        <p:nvSpPr>
          <p:cNvPr id="9" name="Text 7"/>
          <p:cNvSpPr/>
          <p:nvPr/>
        </p:nvSpPr>
        <p:spPr>
          <a:xfrm>
            <a:off x="640080" y="2679192"/>
            <a:ext cx="3200400" cy="822960"/>
          </a:xfrm>
          <a:prstGeom prst="rect">
            <a:avLst/>
          </a:prstGeom>
          <a:noFill/>
          <a:ln/>
        </p:spPr>
        <p:txBody>
          <a:bodyPr wrap="square" rtlCol="0" anchor="t"/>
          <a:lstStyle/>
          <a:p>
            <a:pPr indent="0" marL="0">
              <a:buNone/>
            </a:pPr>
            <a:r>
              <a:rPr lang="en-US" sz="1600" b="1" dirty="0">
                <a:solidFill>
                  <a:srgbClr val="0A4C8A"/>
                </a:solidFill>
                <a:latin typeface="Cambria" pitchFamily="34" charset="0"/>
                <a:ea typeface="Cambria" pitchFamily="34" charset="-122"/>
                <a:cs typeface="Cambria" pitchFamily="34" charset="-120"/>
              </a:rPr>
              <a:t>Dijkstra's Algorithm</a:t>
            </a:r>
            <a:endParaRPr lang="en-US" sz="1600" dirty="0"/>
          </a:p>
        </p:txBody>
      </p:sp>
      <p:sp>
        <p:nvSpPr>
          <p:cNvPr id="10" name="Text 8"/>
          <p:cNvSpPr/>
          <p:nvPr/>
        </p:nvSpPr>
        <p:spPr>
          <a:xfrm>
            <a:off x="4023360" y="2679192"/>
            <a:ext cx="7498080" cy="822960"/>
          </a:xfrm>
          <a:prstGeom prst="rect">
            <a:avLst/>
          </a:prstGeom>
          <a:noFill/>
          <a:ln/>
        </p:spPr>
        <p:txBody>
          <a:bodyPr wrap="square" rtlCol="0" anchor="t"/>
          <a:lstStyle/>
          <a:p>
            <a:pPr indent="0" marL="0">
              <a:lnSpc>
                <a:spcPct val="130000"/>
              </a:lnSpc>
              <a:buNone/>
            </a:pPr>
            <a:r>
              <a:rPr lang="en-US" sz="1250" dirty="0">
                <a:solidFill>
                  <a:srgbClr val="1B1F27"/>
                </a:solidFill>
                <a:latin typeface="Calibri" pitchFamily="34" charset="0"/>
                <a:ea typeface="Calibri" pitchFamily="34" charset="-122"/>
                <a:cs typeface="Calibri" pitchFamily="34" charset="-120"/>
              </a:rPr>
              <a:t>Establishes the baseline — guaranteed shortest distance across dry roads once flooded edges are removed.</a:t>
            </a:r>
            <a:endParaRPr lang="en-US" sz="1250" dirty="0"/>
          </a:p>
        </p:txBody>
      </p:sp>
      <p:sp>
        <p:nvSpPr>
          <p:cNvPr id="11" name="Shape 9"/>
          <p:cNvSpPr/>
          <p:nvPr/>
        </p:nvSpPr>
        <p:spPr>
          <a:xfrm>
            <a:off x="640080" y="3566160"/>
            <a:ext cx="10881360" cy="0"/>
          </a:xfrm>
          <a:prstGeom prst="line">
            <a:avLst/>
          </a:prstGeom>
          <a:noFill/>
          <a:ln w="9525">
            <a:solidFill>
              <a:srgbClr val="D8DEE4"/>
            </a:solidFill>
            <a:prstDash val="solid"/>
          </a:ln>
        </p:spPr>
      </p:sp>
      <p:sp>
        <p:nvSpPr>
          <p:cNvPr id="12" name="Text 10"/>
          <p:cNvSpPr/>
          <p:nvPr/>
        </p:nvSpPr>
        <p:spPr>
          <a:xfrm>
            <a:off x="640080" y="3730752"/>
            <a:ext cx="3200400" cy="822960"/>
          </a:xfrm>
          <a:prstGeom prst="rect">
            <a:avLst/>
          </a:prstGeom>
          <a:noFill/>
          <a:ln/>
        </p:spPr>
        <p:txBody>
          <a:bodyPr wrap="square" rtlCol="0" anchor="t"/>
          <a:lstStyle/>
          <a:p>
            <a:pPr indent="0" marL="0">
              <a:buNone/>
            </a:pPr>
            <a:r>
              <a:rPr lang="en-US" sz="1600" b="1" dirty="0">
                <a:solidFill>
                  <a:srgbClr val="0A4C8A"/>
                </a:solidFill>
                <a:latin typeface="Cambria" pitchFamily="34" charset="0"/>
                <a:ea typeface="Cambria" pitchFamily="34" charset="-122"/>
                <a:cs typeface="Cambria" pitchFamily="34" charset="-120"/>
              </a:rPr>
              <a:t>Bellman-Ford Algorithm</a:t>
            </a:r>
            <a:endParaRPr lang="en-US" sz="1600" dirty="0"/>
          </a:p>
        </p:txBody>
      </p:sp>
      <p:sp>
        <p:nvSpPr>
          <p:cNvPr id="13" name="Text 11"/>
          <p:cNvSpPr/>
          <p:nvPr/>
        </p:nvSpPr>
        <p:spPr>
          <a:xfrm>
            <a:off x="4023360" y="3730752"/>
            <a:ext cx="7498080" cy="822960"/>
          </a:xfrm>
          <a:prstGeom prst="rect">
            <a:avLst/>
          </a:prstGeom>
          <a:noFill/>
          <a:ln/>
        </p:spPr>
        <p:txBody>
          <a:bodyPr wrap="square" rtlCol="0" anchor="t"/>
          <a:lstStyle/>
          <a:p>
            <a:pPr indent="0" marL="0">
              <a:lnSpc>
                <a:spcPct val="130000"/>
              </a:lnSpc>
              <a:buNone/>
            </a:pPr>
            <a:r>
              <a:rPr lang="en-US" sz="1250" dirty="0">
                <a:solidFill>
                  <a:srgbClr val="1B1F27"/>
                </a:solidFill>
                <a:latin typeface="Calibri" pitchFamily="34" charset="0"/>
                <a:ea typeface="Calibri" pitchFamily="34" charset="-122"/>
                <a:cs typeface="Calibri" pitchFamily="34" charset="-120"/>
              </a:rPr>
              <a:t>Cross-checks the graph itself — confirms road weights are consistent and free of negative-weight cycles.</a:t>
            </a:r>
            <a:endParaRPr lang="en-US" sz="1250" dirty="0"/>
          </a:p>
        </p:txBody>
      </p:sp>
      <p:sp>
        <p:nvSpPr>
          <p:cNvPr id="14" name="Shape 12"/>
          <p:cNvSpPr/>
          <p:nvPr/>
        </p:nvSpPr>
        <p:spPr>
          <a:xfrm>
            <a:off x="640080" y="4617720"/>
            <a:ext cx="10881360" cy="0"/>
          </a:xfrm>
          <a:prstGeom prst="line">
            <a:avLst/>
          </a:prstGeom>
          <a:noFill/>
          <a:ln w="9525">
            <a:solidFill>
              <a:srgbClr val="D8DEE4"/>
            </a:solidFill>
            <a:prstDash val="solid"/>
          </a:ln>
        </p:spPr>
      </p:sp>
      <p:sp>
        <p:nvSpPr>
          <p:cNvPr id="15" name="Text 13"/>
          <p:cNvSpPr/>
          <p:nvPr/>
        </p:nvSpPr>
        <p:spPr>
          <a:xfrm>
            <a:off x="640080" y="4782312"/>
            <a:ext cx="3200400" cy="822960"/>
          </a:xfrm>
          <a:prstGeom prst="rect">
            <a:avLst/>
          </a:prstGeom>
          <a:noFill/>
          <a:ln/>
        </p:spPr>
        <p:txBody>
          <a:bodyPr wrap="square" rtlCol="0" anchor="t"/>
          <a:lstStyle/>
          <a:p>
            <a:pPr indent="0" marL="0">
              <a:buNone/>
            </a:pPr>
            <a:r>
              <a:rPr lang="en-US" sz="1600" b="1" dirty="0">
                <a:solidFill>
                  <a:srgbClr val="0A4C8A"/>
                </a:solidFill>
                <a:latin typeface="Cambria" pitchFamily="34" charset="0"/>
                <a:ea typeface="Cambria" pitchFamily="34" charset="-122"/>
                <a:cs typeface="Cambria" pitchFamily="34" charset="-120"/>
              </a:rPr>
              <a:t>A* Search</a:t>
            </a:r>
            <a:endParaRPr lang="en-US" sz="1600" dirty="0"/>
          </a:p>
        </p:txBody>
      </p:sp>
      <p:sp>
        <p:nvSpPr>
          <p:cNvPr id="16" name="Text 14"/>
          <p:cNvSpPr/>
          <p:nvPr/>
        </p:nvSpPr>
        <p:spPr>
          <a:xfrm>
            <a:off x="4023360" y="4782312"/>
            <a:ext cx="7498080" cy="822960"/>
          </a:xfrm>
          <a:prstGeom prst="rect">
            <a:avLst/>
          </a:prstGeom>
          <a:noFill/>
          <a:ln/>
        </p:spPr>
        <p:txBody>
          <a:bodyPr wrap="square" rtlCol="0" anchor="t"/>
          <a:lstStyle/>
          <a:p>
            <a:pPr indent="0" marL="0">
              <a:lnSpc>
                <a:spcPct val="130000"/>
              </a:lnSpc>
              <a:buNone/>
            </a:pPr>
            <a:r>
              <a:rPr lang="en-US" sz="1250" dirty="0">
                <a:solidFill>
                  <a:srgbClr val="1B1F27"/>
                </a:solidFill>
                <a:latin typeface="Calibri" pitchFamily="34" charset="0"/>
                <a:ea typeface="Calibri" pitchFamily="34" charset="-122"/>
                <a:cs typeface="Calibri" pitchFamily="34" charset="-120"/>
              </a:rPr>
              <a:t>Delivers the real-time answer — reaches the same optimal route as Dijkstra but explores far fewer roads to get there.</a:t>
            </a:r>
            <a:endParaRPr lang="en-US" sz="1250" dirty="0"/>
          </a:p>
        </p:txBody>
      </p:sp>
      <p:sp>
        <p:nvSpPr>
          <p:cNvPr id="17" name="Shape 15"/>
          <p:cNvSpPr/>
          <p:nvPr/>
        </p:nvSpPr>
        <p:spPr>
          <a:xfrm>
            <a:off x="640080" y="5669280"/>
            <a:ext cx="10881360" cy="0"/>
          </a:xfrm>
          <a:prstGeom prst="line">
            <a:avLst/>
          </a:prstGeom>
          <a:noFill/>
          <a:ln w="9525">
            <a:solidFill>
              <a:srgbClr val="D8DEE4"/>
            </a:solidFill>
            <a:prstDash val="solid"/>
          </a:ln>
        </p:spPr>
      </p:sp>
      <p:sp>
        <p:nvSpPr>
          <p:cNvPr id="18" name="Text 16"/>
          <p:cNvSpPr/>
          <p:nvPr/>
        </p:nvSpPr>
        <p:spPr>
          <a:xfrm>
            <a:off x="640080" y="5897880"/>
            <a:ext cx="10881360" cy="457200"/>
          </a:xfrm>
          <a:prstGeom prst="rect">
            <a:avLst/>
          </a:prstGeom>
          <a:noFill/>
          <a:ln/>
        </p:spPr>
        <p:txBody>
          <a:bodyPr wrap="square" rtlCol="0" anchor="ctr"/>
          <a:lstStyle/>
          <a:p>
            <a:pPr indent="0" marL="0">
              <a:buNone/>
            </a:pPr>
            <a:r>
              <a:rPr lang="en-US" sz="1150" i="1" dirty="0">
                <a:solidFill>
                  <a:srgbClr val="5B6472"/>
                </a:solidFill>
                <a:latin typeface="Calibri" pitchFamily="34" charset="0"/>
                <a:ea typeface="Calibri" pitchFamily="34" charset="-122"/>
                <a:cs typeface="Calibri" pitchFamily="34" charset="-120"/>
              </a:rPr>
              <a:t>All three were covered in CSE 246 immediately before this project began — which is what made an offline, algorithm-driven solution feel achievable in the first place.</a:t>
            </a:r>
            <a:endParaRPr lang="en-US" sz="1150" dirty="0"/>
          </a:p>
        </p:txBody>
      </p:sp>
      <p:sp>
        <p:nvSpPr>
          <p:cNvPr id="19" name="Text 1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AA5A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82296" cy="310896"/>
          </a:xfrm>
          <a:prstGeom prst="rect">
            <a:avLst/>
          </a:prstGeom>
          <a:solidFill>
            <a:srgbClr val="C99A3E"/>
          </a:solidFill>
          <a:ln/>
        </p:spPr>
      </p:sp>
      <p:sp>
        <p:nvSpPr>
          <p:cNvPr id="3" name="Text 1"/>
          <p:cNvSpPr/>
          <p:nvPr/>
        </p:nvSpPr>
        <p:spPr>
          <a:xfrm>
            <a:off x="804672" y="411480"/>
            <a:ext cx="548640" cy="365760"/>
          </a:xfrm>
          <a:prstGeom prst="rect">
            <a:avLst/>
          </a:prstGeom>
          <a:noFill/>
          <a:ln/>
        </p:spPr>
        <p:txBody>
          <a:bodyPr wrap="square" rtlCol="0" anchor="ctr"/>
          <a:lstStyle/>
          <a:p>
            <a:pPr indent="0" marL="0">
              <a:buNone/>
            </a:pPr>
            <a:r>
              <a:rPr lang="en-US" sz="1200" b="1" dirty="0">
                <a:solidFill>
                  <a:srgbClr val="C99A3E"/>
                </a:solidFill>
                <a:latin typeface="Calibri" pitchFamily="34" charset="0"/>
                <a:ea typeface="Calibri" pitchFamily="34" charset="-122"/>
                <a:cs typeface="Calibri" pitchFamily="34" charset="-120"/>
              </a:rPr>
              <a:t>04</a:t>
            </a:r>
            <a:endParaRPr lang="en-US" sz="1200" dirty="0"/>
          </a:p>
        </p:txBody>
      </p:sp>
      <p:sp>
        <p:nvSpPr>
          <p:cNvPr id="4" name="Text 2"/>
          <p:cNvSpPr/>
          <p:nvPr/>
        </p:nvSpPr>
        <p:spPr>
          <a:xfrm>
            <a:off x="1097280" y="411480"/>
            <a:ext cx="7315200" cy="365760"/>
          </a:xfrm>
          <a:prstGeom prst="rect">
            <a:avLst/>
          </a:prstGeom>
          <a:noFill/>
          <a:ln/>
        </p:spPr>
        <p:txBody>
          <a:bodyPr wrap="square" rtlCol="0" anchor="ctr"/>
          <a:lstStyle/>
          <a:p>
            <a:pPr indent="0" marL="0">
              <a:buNone/>
            </a:pPr>
            <a:r>
              <a:rPr lang="en-US" sz="1200" b="1" spc="150" kern="0" dirty="0">
                <a:solidFill>
                  <a:srgbClr val="5B6472"/>
                </a:solidFill>
                <a:latin typeface="Calibri" pitchFamily="34" charset="0"/>
                <a:ea typeface="Calibri" pitchFamily="34" charset="-122"/>
                <a:cs typeface="Calibri" pitchFamily="34" charset="-120"/>
              </a:rPr>
              <a:t>ALGORITHM DETAIL</a:t>
            </a:r>
            <a:endParaRPr lang="en-US" sz="1200" dirty="0"/>
          </a:p>
        </p:txBody>
      </p:sp>
      <p:sp>
        <p:nvSpPr>
          <p:cNvPr id="5" name="Shape 3"/>
          <p:cNvSpPr/>
          <p:nvPr/>
        </p:nvSpPr>
        <p:spPr>
          <a:xfrm>
            <a:off x="640080" y="786384"/>
            <a:ext cx="10881360" cy="0"/>
          </a:xfrm>
          <a:prstGeom prst="line">
            <a:avLst/>
          </a:prstGeom>
          <a:noFill/>
          <a:ln w="9525">
            <a:solidFill>
              <a:srgbClr val="D8DEE4"/>
            </a:solidFill>
            <a:prstDash val="solid"/>
          </a:ln>
        </p:spPr>
      </p:sp>
      <p:sp>
        <p:nvSpPr>
          <p:cNvPr id="6" name="Text 4"/>
          <p:cNvSpPr/>
          <p:nvPr/>
        </p:nvSpPr>
        <p:spPr>
          <a:xfrm>
            <a:off x="640080" y="914400"/>
            <a:ext cx="10881360" cy="777240"/>
          </a:xfrm>
          <a:prstGeom prst="rect">
            <a:avLst/>
          </a:prstGeom>
          <a:noFill/>
          <a:ln/>
        </p:spPr>
        <p:txBody>
          <a:bodyPr wrap="square" rtlCol="0" anchor="ctr"/>
          <a:lstStyle/>
          <a:p>
            <a:pPr indent="0" marL="0">
              <a:buNone/>
            </a:pPr>
            <a:r>
              <a:rPr lang="en-US" sz="2800" b="1" dirty="0">
                <a:solidFill>
                  <a:srgbClr val="0A1930"/>
                </a:solidFill>
                <a:latin typeface="Cambria" pitchFamily="34" charset="0"/>
                <a:ea typeface="Cambria" pitchFamily="34" charset="-122"/>
                <a:cs typeface="Cambria" pitchFamily="34" charset="-120"/>
              </a:rPr>
              <a:t>Dijkstra's Algorithm &amp; Benefits</a:t>
            </a:r>
            <a:endParaRPr lang="en-US" sz="2800" dirty="0"/>
          </a:p>
        </p:txBody>
      </p:sp>
      <p:sp>
        <p:nvSpPr>
          <p:cNvPr id="7" name="Text 5"/>
          <p:cNvSpPr/>
          <p:nvPr/>
        </p:nvSpPr>
        <p:spPr>
          <a:xfrm>
            <a:off x="640080" y="1828800"/>
            <a:ext cx="5166360" cy="320040"/>
          </a:xfrm>
          <a:prstGeom prst="rect">
            <a:avLst/>
          </a:prstGeom>
          <a:noFill/>
          <a:ln/>
        </p:spPr>
        <p:txBody>
          <a:bodyPr wrap="square" rtlCol="0" anchor="ctr"/>
          <a:lstStyle/>
          <a:p>
            <a:pPr indent="0" marL="0">
              <a:buNone/>
            </a:pPr>
            <a:r>
              <a:rPr lang="en-US" sz="1350" b="1" dirty="0">
                <a:solidFill>
                  <a:srgbClr val="0A4C8A"/>
                </a:solidFill>
                <a:latin typeface="Calibri" pitchFamily="34" charset="0"/>
                <a:ea typeface="Calibri" pitchFamily="34" charset="-122"/>
                <a:cs typeface="Calibri" pitchFamily="34" charset="-120"/>
              </a:rPr>
              <a:t>How it works</a:t>
            </a:r>
            <a:endParaRPr lang="en-US" sz="1350" dirty="0"/>
          </a:p>
        </p:txBody>
      </p:sp>
      <p:sp>
        <p:nvSpPr>
          <p:cNvPr id="8" name="Text 6"/>
          <p:cNvSpPr/>
          <p:nvPr/>
        </p:nvSpPr>
        <p:spPr>
          <a:xfrm>
            <a:off x="640080" y="2176272"/>
            <a:ext cx="5166360" cy="1508760"/>
          </a:xfrm>
          <a:prstGeom prst="rect">
            <a:avLst/>
          </a:prstGeom>
          <a:noFill/>
          <a:ln/>
        </p:spPr>
        <p:txBody>
          <a:bodyPr wrap="square" rtlCol="0" anchor="ctr"/>
          <a:lstStyle/>
          <a:p>
            <a:pPr indent="0" marL="0">
              <a:lnSpc>
                <a:spcPct val="132000"/>
              </a:lnSpc>
              <a:buNone/>
            </a:pPr>
            <a:r>
              <a:rPr lang="en-US" sz="1200" dirty="0">
                <a:solidFill>
                  <a:srgbClr val="1B1F27"/>
                </a:solidFill>
                <a:latin typeface="Calibri" pitchFamily="34" charset="0"/>
                <a:ea typeface="Calibri" pitchFamily="34" charset="-122"/>
                <a:cs typeface="Calibri" pitchFamily="34" charset="-120"/>
              </a:rPr>
              <a:t>Dijkstra keeps a min-heap of the closest unvisited intersection and repeatedly relaxes its outgoing roads. Flooded edges are dropped during graph construction, so the search space only ever contains roads that are actually passable.</a:t>
            </a:r>
            <a:endParaRPr lang="en-US" sz="1200" dirty="0"/>
          </a:p>
        </p:txBody>
      </p:sp>
      <p:sp>
        <p:nvSpPr>
          <p:cNvPr id="9" name="Text 7"/>
          <p:cNvSpPr/>
          <p:nvPr/>
        </p:nvSpPr>
        <p:spPr>
          <a:xfrm>
            <a:off x="640080" y="3794760"/>
            <a:ext cx="5166360" cy="320040"/>
          </a:xfrm>
          <a:prstGeom prst="rect">
            <a:avLst/>
          </a:prstGeom>
          <a:noFill/>
          <a:ln/>
        </p:spPr>
        <p:txBody>
          <a:bodyPr wrap="square" rtlCol="0" anchor="ctr"/>
          <a:lstStyle/>
          <a:p>
            <a:pPr indent="0" marL="0">
              <a:buNone/>
            </a:pPr>
            <a:r>
              <a:rPr lang="en-US" sz="1350" b="1" dirty="0">
                <a:solidFill>
                  <a:srgbClr val="0A4C8A"/>
                </a:solidFill>
                <a:latin typeface="Calibri" pitchFamily="34" charset="0"/>
                <a:ea typeface="Calibri" pitchFamily="34" charset="-122"/>
                <a:cs typeface="Calibri" pitchFamily="34" charset="-120"/>
              </a:rPr>
              <a:t>Benefits for this system</a:t>
            </a:r>
            <a:endParaRPr lang="en-US" sz="1350" dirty="0"/>
          </a:p>
        </p:txBody>
      </p:sp>
      <p:sp>
        <p:nvSpPr>
          <p:cNvPr id="10" name="Text 8"/>
          <p:cNvSpPr/>
          <p:nvPr/>
        </p:nvSpPr>
        <p:spPr>
          <a:xfrm>
            <a:off x="640080" y="4160520"/>
            <a:ext cx="5166360" cy="457200"/>
          </a:xfrm>
          <a:prstGeom prst="rect">
            <a:avLst/>
          </a:prstGeom>
          <a:noFill/>
          <a:ln/>
        </p:spPr>
        <p:txBody>
          <a:bodyPr wrap="square" rtlCol="0" anchor="ctr"/>
          <a:lstStyle/>
          <a:p>
            <a:pPr marL="342900" indent="-342900">
              <a:lnSpc>
                <a:spcPct val="120000"/>
              </a:lnSpc>
              <a:buSzPct val="100000"/>
              <a:buChar char="–"/>
            </a:pPr>
            <a:r>
              <a:rPr lang="en-US" sz="1200" dirty="0">
                <a:solidFill>
                  <a:srgbClr val="1B1F27"/>
                </a:solidFill>
                <a:latin typeface="Calibri" pitchFamily="34" charset="0"/>
                <a:ea typeface="Calibri" pitchFamily="34" charset="-122"/>
                <a:cs typeface="Calibri" pitchFamily="34" charset="-120"/>
              </a:rPr>
              <a:t>Guarantees the mathematically shortest safe route, not just a reasonable one</a:t>
            </a:r>
            <a:endParaRPr lang="en-US" sz="1200" dirty="0"/>
          </a:p>
        </p:txBody>
      </p:sp>
      <p:sp>
        <p:nvSpPr>
          <p:cNvPr id="11" name="Text 9"/>
          <p:cNvSpPr/>
          <p:nvPr/>
        </p:nvSpPr>
        <p:spPr>
          <a:xfrm>
            <a:off x="640080" y="4617720"/>
            <a:ext cx="5166360" cy="457200"/>
          </a:xfrm>
          <a:prstGeom prst="rect">
            <a:avLst/>
          </a:prstGeom>
          <a:noFill/>
          <a:ln/>
        </p:spPr>
        <p:txBody>
          <a:bodyPr wrap="square" rtlCol="0" anchor="ctr"/>
          <a:lstStyle/>
          <a:p>
            <a:pPr marL="342900" indent="-342900">
              <a:lnSpc>
                <a:spcPct val="120000"/>
              </a:lnSpc>
              <a:buSzPct val="100000"/>
              <a:buChar char="–"/>
            </a:pPr>
            <a:r>
              <a:rPr lang="en-US" sz="1200" dirty="0">
                <a:solidFill>
                  <a:srgbClr val="1B1F27"/>
                </a:solidFill>
                <a:latin typeface="Calibri" pitchFamily="34" charset="0"/>
                <a:ea typeface="Calibri" pitchFamily="34" charset="-122"/>
                <a:cs typeface="Calibri" pitchFamily="34" charset="-120"/>
              </a:rPr>
              <a:t>Well suited to non-negative road distances — exactly what this graph has</a:t>
            </a:r>
            <a:endParaRPr lang="en-US" sz="1200" dirty="0"/>
          </a:p>
        </p:txBody>
      </p:sp>
      <p:sp>
        <p:nvSpPr>
          <p:cNvPr id="12" name="Text 10"/>
          <p:cNvSpPr/>
          <p:nvPr/>
        </p:nvSpPr>
        <p:spPr>
          <a:xfrm>
            <a:off x="640080" y="5074920"/>
            <a:ext cx="5166360" cy="457200"/>
          </a:xfrm>
          <a:prstGeom prst="rect">
            <a:avLst/>
          </a:prstGeom>
          <a:noFill/>
          <a:ln/>
        </p:spPr>
        <p:txBody>
          <a:bodyPr wrap="square" rtlCol="0" anchor="ctr"/>
          <a:lstStyle/>
          <a:p>
            <a:pPr marL="342900" indent="-342900">
              <a:lnSpc>
                <a:spcPct val="120000"/>
              </a:lnSpc>
              <a:buSzPct val="100000"/>
              <a:buChar char="–"/>
            </a:pPr>
            <a:r>
              <a:rPr lang="en-US" sz="1200" dirty="0">
                <a:solidFill>
                  <a:srgbClr val="1B1F27"/>
                </a:solidFill>
                <a:latin typeface="Calibri" pitchFamily="34" charset="0"/>
                <a:ea typeface="Calibri" pitchFamily="34" charset="-122"/>
                <a:cs typeface="Calibri" pitchFamily="34" charset="-120"/>
              </a:rPr>
              <a:t>Low, predictable memory footprint on the size of network Dhaka needs</a:t>
            </a:r>
            <a:endParaRPr lang="en-US" sz="1200" dirty="0"/>
          </a:p>
        </p:txBody>
      </p:sp>
      <p:sp>
        <p:nvSpPr>
          <p:cNvPr id="13" name="Shape 11"/>
          <p:cNvSpPr/>
          <p:nvPr/>
        </p:nvSpPr>
        <p:spPr>
          <a:xfrm>
            <a:off x="5989320" y="1664208"/>
            <a:ext cx="5394960" cy="4846320"/>
          </a:xfrm>
          <a:prstGeom prst="rect">
            <a:avLst/>
          </a:prstGeom>
          <a:solidFill>
            <a:srgbClr val="0A1930"/>
          </a:solidFill>
          <a:ln/>
        </p:spPr>
      </p:sp>
      <p:sp>
        <p:nvSpPr>
          <p:cNvPr id="14" name="Text 12"/>
          <p:cNvSpPr/>
          <p:nvPr/>
        </p:nvSpPr>
        <p:spPr>
          <a:xfrm>
            <a:off x="6245352" y="1828800"/>
            <a:ext cx="3657600" cy="237744"/>
          </a:xfrm>
          <a:prstGeom prst="rect">
            <a:avLst/>
          </a:prstGeom>
          <a:noFill/>
          <a:ln/>
        </p:spPr>
        <p:txBody>
          <a:bodyPr wrap="square" rtlCol="0" anchor="ctr"/>
          <a:lstStyle/>
          <a:p>
            <a:pPr indent="0" marL="0">
              <a:buNone/>
            </a:pPr>
            <a:r>
              <a:rPr lang="en-US" sz="1100" b="1" dirty="0">
                <a:solidFill>
                  <a:srgbClr val="7FA6BE"/>
                </a:solidFill>
                <a:latin typeface="Courier New" pitchFamily="34" charset="0"/>
                <a:ea typeface="Courier New" pitchFamily="34" charset="-122"/>
                <a:cs typeface="Courier New" pitchFamily="34" charset="-120"/>
              </a:rPr>
              <a:t>dijkstra.cpp</a:t>
            </a:r>
            <a:endParaRPr lang="en-US" sz="1100" dirty="0"/>
          </a:p>
        </p:txBody>
      </p:sp>
      <p:sp>
        <p:nvSpPr>
          <p:cNvPr id="15" name="Text 13"/>
          <p:cNvSpPr/>
          <p:nvPr/>
        </p:nvSpPr>
        <p:spPr>
          <a:xfrm>
            <a:off x="6245352" y="2121408"/>
            <a:ext cx="4882896" cy="4251960"/>
          </a:xfrm>
          <a:prstGeom prst="rect">
            <a:avLst/>
          </a:prstGeom>
          <a:noFill/>
          <a:ln/>
        </p:spPr>
        <p:txBody>
          <a:bodyPr wrap="square" rtlCol="0" anchor="t"/>
          <a:lstStyle/>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priority_queue&lt;pair&lt;int,int&gt;,</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vector&lt;pair&lt;int,int&gt;&gt;,</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greater&lt;pair&lt;int,int&gt;&gt;&gt; pq;</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distance[source] = 0;</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pq.push({0, source});</a:t>
            </a:r>
            <a:endParaRPr lang="en-US" sz="860" dirty="0"/>
          </a:p>
          <a:p>
            <a:pPr indent="0" marL="0">
              <a:lnSpc>
                <a:spcPct val="100000"/>
              </a:lnSpc>
              <a:buNone/>
            </a:pP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while (!pq.empty()) {</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int currentDistance = pq.top().first;</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int currentNode     = pq.top().second;</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pq.pop();</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for (auto edge : graph[currentNode]) {</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int nextNode = edge.destination;</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int newDistance =</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currentDistance + edge.weight;</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if (newDistance &lt; distance[nextNode]) {</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distance[nextNode] = newDistance;</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parent[nextNode]   = currentNode;</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pq.push({newDistance, nextNode});</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a:t>
            </a:r>
            <a:endParaRPr lang="en-US" sz="860" dirty="0"/>
          </a:p>
          <a:p>
            <a:pPr indent="0" marL="0">
              <a:lnSpc>
                <a:spcPct val="100000"/>
              </a:lnSpc>
              <a:buNone/>
            </a:pP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 building the graph — flooded roads skipped</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if (flooded == 1) continue;</a:t>
            </a:r>
            <a:endParaRPr lang="en-US" sz="860" dirty="0"/>
          </a:p>
          <a:p>
            <a:pPr indent="0" marL="0">
              <a:lnSpc>
                <a:spcPct val="100000"/>
              </a:lnSpc>
              <a:buNone/>
            </a:pPr>
            <a:r>
              <a:rPr lang="en-US" sz="860" dirty="0">
                <a:solidFill>
                  <a:srgbClr val="D7E4EE"/>
                </a:solidFill>
                <a:latin typeface="Courier New" pitchFamily="34" charset="0"/>
                <a:ea typeface="Courier New" pitchFamily="34" charset="-122"/>
                <a:cs typeface="Courier New" pitchFamily="34" charset="-120"/>
              </a:rPr>
              <a:t>graph[u].push_back({v, weight});</a:t>
            </a:r>
            <a:endParaRPr lang="en-US" sz="860" dirty="0"/>
          </a:p>
        </p:txBody>
      </p:sp>
      <p:sp>
        <p:nvSpPr>
          <p:cNvPr id="16" name="Text 1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AA5A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82296" cy="310896"/>
          </a:xfrm>
          <a:prstGeom prst="rect">
            <a:avLst/>
          </a:prstGeom>
          <a:solidFill>
            <a:srgbClr val="C99A3E"/>
          </a:solidFill>
          <a:ln/>
        </p:spPr>
      </p:sp>
      <p:sp>
        <p:nvSpPr>
          <p:cNvPr id="3" name="Text 1"/>
          <p:cNvSpPr/>
          <p:nvPr/>
        </p:nvSpPr>
        <p:spPr>
          <a:xfrm>
            <a:off x="804672" y="411480"/>
            <a:ext cx="548640" cy="365760"/>
          </a:xfrm>
          <a:prstGeom prst="rect">
            <a:avLst/>
          </a:prstGeom>
          <a:noFill/>
          <a:ln/>
        </p:spPr>
        <p:txBody>
          <a:bodyPr wrap="square" rtlCol="0" anchor="ctr"/>
          <a:lstStyle/>
          <a:p>
            <a:pPr indent="0" marL="0">
              <a:buNone/>
            </a:pPr>
            <a:r>
              <a:rPr lang="en-US" sz="1200" b="1" dirty="0">
                <a:solidFill>
                  <a:srgbClr val="C99A3E"/>
                </a:solidFill>
                <a:latin typeface="Calibri" pitchFamily="34" charset="0"/>
                <a:ea typeface="Calibri" pitchFamily="34" charset="-122"/>
                <a:cs typeface="Calibri" pitchFamily="34" charset="-120"/>
              </a:rPr>
              <a:t>05</a:t>
            </a:r>
            <a:endParaRPr lang="en-US" sz="1200" dirty="0"/>
          </a:p>
        </p:txBody>
      </p:sp>
      <p:sp>
        <p:nvSpPr>
          <p:cNvPr id="4" name="Text 2"/>
          <p:cNvSpPr/>
          <p:nvPr/>
        </p:nvSpPr>
        <p:spPr>
          <a:xfrm>
            <a:off x="1097280" y="411480"/>
            <a:ext cx="7315200" cy="365760"/>
          </a:xfrm>
          <a:prstGeom prst="rect">
            <a:avLst/>
          </a:prstGeom>
          <a:noFill/>
          <a:ln/>
        </p:spPr>
        <p:txBody>
          <a:bodyPr wrap="square" rtlCol="0" anchor="ctr"/>
          <a:lstStyle/>
          <a:p>
            <a:pPr indent="0" marL="0">
              <a:buNone/>
            </a:pPr>
            <a:r>
              <a:rPr lang="en-US" sz="1200" b="1" spc="150" kern="0" dirty="0">
                <a:solidFill>
                  <a:srgbClr val="5B6472"/>
                </a:solidFill>
                <a:latin typeface="Calibri" pitchFamily="34" charset="0"/>
                <a:ea typeface="Calibri" pitchFamily="34" charset="-122"/>
                <a:cs typeface="Calibri" pitchFamily="34" charset="-120"/>
              </a:rPr>
              <a:t>ALGORITHM DETAIL</a:t>
            </a:r>
            <a:endParaRPr lang="en-US" sz="1200" dirty="0"/>
          </a:p>
        </p:txBody>
      </p:sp>
      <p:sp>
        <p:nvSpPr>
          <p:cNvPr id="5" name="Shape 3"/>
          <p:cNvSpPr/>
          <p:nvPr/>
        </p:nvSpPr>
        <p:spPr>
          <a:xfrm>
            <a:off x="640080" y="786384"/>
            <a:ext cx="10881360" cy="0"/>
          </a:xfrm>
          <a:prstGeom prst="line">
            <a:avLst/>
          </a:prstGeom>
          <a:noFill/>
          <a:ln w="9525">
            <a:solidFill>
              <a:srgbClr val="D8DEE4"/>
            </a:solidFill>
            <a:prstDash val="solid"/>
          </a:ln>
        </p:spPr>
      </p:sp>
      <p:sp>
        <p:nvSpPr>
          <p:cNvPr id="6" name="Text 4"/>
          <p:cNvSpPr/>
          <p:nvPr/>
        </p:nvSpPr>
        <p:spPr>
          <a:xfrm>
            <a:off x="640080" y="914400"/>
            <a:ext cx="10881360" cy="777240"/>
          </a:xfrm>
          <a:prstGeom prst="rect">
            <a:avLst/>
          </a:prstGeom>
          <a:noFill/>
          <a:ln/>
        </p:spPr>
        <p:txBody>
          <a:bodyPr wrap="square" rtlCol="0" anchor="ctr"/>
          <a:lstStyle/>
          <a:p>
            <a:pPr indent="0" marL="0">
              <a:buNone/>
            </a:pPr>
            <a:r>
              <a:rPr lang="en-US" sz="2800" b="1" dirty="0">
                <a:solidFill>
                  <a:srgbClr val="0A1930"/>
                </a:solidFill>
                <a:latin typeface="Cambria" pitchFamily="34" charset="0"/>
                <a:ea typeface="Cambria" pitchFamily="34" charset="-122"/>
                <a:cs typeface="Cambria" pitchFamily="34" charset="-120"/>
              </a:rPr>
              <a:t>Bellman-Ford Algorithm &amp; Benefits</a:t>
            </a:r>
            <a:endParaRPr lang="en-US" sz="2800" dirty="0"/>
          </a:p>
        </p:txBody>
      </p:sp>
      <p:sp>
        <p:nvSpPr>
          <p:cNvPr id="7" name="Text 5"/>
          <p:cNvSpPr/>
          <p:nvPr/>
        </p:nvSpPr>
        <p:spPr>
          <a:xfrm>
            <a:off x="640080" y="1828800"/>
            <a:ext cx="5166360" cy="320040"/>
          </a:xfrm>
          <a:prstGeom prst="rect">
            <a:avLst/>
          </a:prstGeom>
          <a:noFill/>
          <a:ln/>
        </p:spPr>
        <p:txBody>
          <a:bodyPr wrap="square" rtlCol="0" anchor="ctr"/>
          <a:lstStyle/>
          <a:p>
            <a:pPr indent="0" marL="0">
              <a:buNone/>
            </a:pPr>
            <a:r>
              <a:rPr lang="en-US" sz="1350" b="1" dirty="0">
                <a:solidFill>
                  <a:srgbClr val="0E8C8C"/>
                </a:solidFill>
                <a:latin typeface="Calibri" pitchFamily="34" charset="0"/>
                <a:ea typeface="Calibri" pitchFamily="34" charset="-122"/>
                <a:cs typeface="Calibri" pitchFamily="34" charset="-120"/>
              </a:rPr>
              <a:t>How it works</a:t>
            </a:r>
            <a:endParaRPr lang="en-US" sz="1350" dirty="0"/>
          </a:p>
        </p:txBody>
      </p:sp>
      <p:sp>
        <p:nvSpPr>
          <p:cNvPr id="8" name="Text 6"/>
          <p:cNvSpPr/>
          <p:nvPr/>
        </p:nvSpPr>
        <p:spPr>
          <a:xfrm>
            <a:off x="640080" y="2176272"/>
            <a:ext cx="5166360" cy="1508760"/>
          </a:xfrm>
          <a:prstGeom prst="rect">
            <a:avLst/>
          </a:prstGeom>
          <a:noFill/>
          <a:ln/>
        </p:spPr>
        <p:txBody>
          <a:bodyPr wrap="square" rtlCol="0" anchor="ctr"/>
          <a:lstStyle/>
          <a:p>
            <a:pPr indent="0" marL="0">
              <a:lnSpc>
                <a:spcPct val="132000"/>
              </a:lnSpc>
              <a:buNone/>
            </a:pPr>
            <a:r>
              <a:rPr lang="en-US" sz="1200" dirty="0">
                <a:solidFill>
                  <a:srgbClr val="1B1F27"/>
                </a:solidFill>
                <a:latin typeface="Calibri" pitchFamily="34" charset="0"/>
                <a:ea typeface="Calibri" pitchFamily="34" charset="-122"/>
                <a:cs typeface="Calibri" pitchFamily="34" charset="-120"/>
              </a:rPr>
              <a:t>Bellman-Ford relaxes every road in the network, V−1 times over, instead of only the closest one. That brute-force approach is slower, but it is guaranteed to catch inconsistencies — like a negative-weight cycle — that Dijkstra would miss entirely.</a:t>
            </a:r>
            <a:endParaRPr lang="en-US" sz="1200" dirty="0"/>
          </a:p>
        </p:txBody>
      </p:sp>
      <p:sp>
        <p:nvSpPr>
          <p:cNvPr id="9" name="Text 7"/>
          <p:cNvSpPr/>
          <p:nvPr/>
        </p:nvSpPr>
        <p:spPr>
          <a:xfrm>
            <a:off x="640080" y="3794760"/>
            <a:ext cx="5166360" cy="320040"/>
          </a:xfrm>
          <a:prstGeom prst="rect">
            <a:avLst/>
          </a:prstGeom>
          <a:noFill/>
          <a:ln/>
        </p:spPr>
        <p:txBody>
          <a:bodyPr wrap="square" rtlCol="0" anchor="ctr"/>
          <a:lstStyle/>
          <a:p>
            <a:pPr indent="0" marL="0">
              <a:buNone/>
            </a:pPr>
            <a:r>
              <a:rPr lang="en-US" sz="1350" b="1" dirty="0">
                <a:solidFill>
                  <a:srgbClr val="0E8C8C"/>
                </a:solidFill>
                <a:latin typeface="Calibri" pitchFamily="34" charset="0"/>
                <a:ea typeface="Calibri" pitchFamily="34" charset="-122"/>
                <a:cs typeface="Calibri" pitchFamily="34" charset="-120"/>
              </a:rPr>
              <a:t>Benefits for this system</a:t>
            </a:r>
            <a:endParaRPr lang="en-US" sz="1350" dirty="0"/>
          </a:p>
        </p:txBody>
      </p:sp>
      <p:sp>
        <p:nvSpPr>
          <p:cNvPr id="10" name="Text 8"/>
          <p:cNvSpPr/>
          <p:nvPr/>
        </p:nvSpPr>
        <p:spPr>
          <a:xfrm>
            <a:off x="640080" y="4160520"/>
            <a:ext cx="5166360" cy="457200"/>
          </a:xfrm>
          <a:prstGeom prst="rect">
            <a:avLst/>
          </a:prstGeom>
          <a:noFill/>
          <a:ln/>
        </p:spPr>
        <p:txBody>
          <a:bodyPr wrap="square" rtlCol="0" anchor="ctr"/>
          <a:lstStyle/>
          <a:p>
            <a:pPr marL="342900" indent="-342900">
              <a:lnSpc>
                <a:spcPct val="120000"/>
              </a:lnSpc>
              <a:buSzPct val="100000"/>
              <a:buChar char="–"/>
            </a:pPr>
            <a:r>
              <a:rPr lang="en-US" sz="1200" dirty="0">
                <a:solidFill>
                  <a:srgbClr val="1B1F27"/>
                </a:solidFill>
                <a:latin typeface="Calibri" pitchFamily="34" charset="0"/>
                <a:ea typeface="Calibri" pitchFamily="34" charset="-122"/>
                <a:cs typeface="Calibri" pitchFamily="34" charset="-120"/>
              </a:rPr>
              <a:t>Confirms the road-weight data itself is valid before it's trusted for routing</a:t>
            </a:r>
            <a:endParaRPr lang="en-US" sz="1200" dirty="0"/>
          </a:p>
        </p:txBody>
      </p:sp>
      <p:sp>
        <p:nvSpPr>
          <p:cNvPr id="11" name="Text 9"/>
          <p:cNvSpPr/>
          <p:nvPr/>
        </p:nvSpPr>
        <p:spPr>
          <a:xfrm>
            <a:off x="640080" y="4617720"/>
            <a:ext cx="5166360" cy="457200"/>
          </a:xfrm>
          <a:prstGeom prst="rect">
            <a:avLst/>
          </a:prstGeom>
          <a:noFill/>
          <a:ln/>
        </p:spPr>
        <p:txBody>
          <a:bodyPr wrap="square" rtlCol="0" anchor="ctr"/>
          <a:lstStyle/>
          <a:p>
            <a:pPr marL="342900" indent="-342900">
              <a:lnSpc>
                <a:spcPct val="120000"/>
              </a:lnSpc>
              <a:buSzPct val="100000"/>
              <a:buChar char="–"/>
            </a:pPr>
            <a:r>
              <a:rPr lang="en-US" sz="1200" dirty="0">
                <a:solidFill>
                  <a:srgbClr val="1B1F27"/>
                </a:solidFill>
                <a:latin typeface="Calibri" pitchFamily="34" charset="0"/>
                <a:ea typeface="Calibri" pitchFamily="34" charset="-122"/>
                <a:cs typeface="Calibri" pitchFamily="34" charset="-120"/>
              </a:rPr>
              <a:t>Handles edges whose weight changes dynamically, not just static distances</a:t>
            </a:r>
            <a:endParaRPr lang="en-US" sz="1200" dirty="0"/>
          </a:p>
        </p:txBody>
      </p:sp>
      <p:sp>
        <p:nvSpPr>
          <p:cNvPr id="12" name="Text 10"/>
          <p:cNvSpPr/>
          <p:nvPr/>
        </p:nvSpPr>
        <p:spPr>
          <a:xfrm>
            <a:off x="640080" y="5074920"/>
            <a:ext cx="5166360" cy="457200"/>
          </a:xfrm>
          <a:prstGeom prst="rect">
            <a:avLst/>
          </a:prstGeom>
          <a:noFill/>
          <a:ln/>
        </p:spPr>
        <p:txBody>
          <a:bodyPr wrap="square" rtlCol="0" anchor="ctr"/>
          <a:lstStyle/>
          <a:p>
            <a:pPr marL="342900" indent="-342900">
              <a:lnSpc>
                <a:spcPct val="120000"/>
              </a:lnSpc>
              <a:buSzPct val="100000"/>
              <a:buChar char="–"/>
            </a:pPr>
            <a:r>
              <a:rPr lang="en-US" sz="1200" dirty="0">
                <a:solidFill>
                  <a:srgbClr val="1B1F27"/>
                </a:solidFill>
                <a:latin typeface="Calibri" pitchFamily="34" charset="0"/>
                <a:ea typeface="Calibri" pitchFamily="34" charset="-122"/>
                <a:cs typeface="Calibri" pitchFamily="34" charset="-120"/>
              </a:rPr>
              <a:t>An early-exit flag keeps it fast in practice on the sparse road graphs tested here</a:t>
            </a:r>
            <a:endParaRPr lang="en-US" sz="1200" dirty="0"/>
          </a:p>
        </p:txBody>
      </p:sp>
      <p:sp>
        <p:nvSpPr>
          <p:cNvPr id="13" name="Shape 11"/>
          <p:cNvSpPr/>
          <p:nvPr/>
        </p:nvSpPr>
        <p:spPr>
          <a:xfrm>
            <a:off x="5989320" y="1664208"/>
            <a:ext cx="5394960" cy="4846320"/>
          </a:xfrm>
          <a:prstGeom prst="rect">
            <a:avLst/>
          </a:prstGeom>
          <a:solidFill>
            <a:srgbClr val="0A1930"/>
          </a:solidFill>
          <a:ln/>
        </p:spPr>
      </p:sp>
      <p:sp>
        <p:nvSpPr>
          <p:cNvPr id="14" name="Text 12"/>
          <p:cNvSpPr/>
          <p:nvPr/>
        </p:nvSpPr>
        <p:spPr>
          <a:xfrm>
            <a:off x="6245352" y="1828800"/>
            <a:ext cx="3657600" cy="237744"/>
          </a:xfrm>
          <a:prstGeom prst="rect">
            <a:avLst/>
          </a:prstGeom>
          <a:noFill/>
          <a:ln/>
        </p:spPr>
        <p:txBody>
          <a:bodyPr wrap="square" rtlCol="0" anchor="ctr"/>
          <a:lstStyle/>
          <a:p>
            <a:pPr indent="0" marL="0">
              <a:buNone/>
            </a:pPr>
            <a:r>
              <a:rPr lang="en-US" sz="1100" b="1" dirty="0">
                <a:solidFill>
                  <a:srgbClr val="7FA6BE"/>
                </a:solidFill>
                <a:latin typeface="Courier New" pitchFamily="34" charset="0"/>
                <a:ea typeface="Courier New" pitchFamily="34" charset="-122"/>
                <a:cs typeface="Courier New" pitchFamily="34" charset="-120"/>
              </a:rPr>
              <a:t>bellman_ford.cpp</a:t>
            </a:r>
            <a:endParaRPr lang="en-US" sz="1100" dirty="0"/>
          </a:p>
        </p:txBody>
      </p:sp>
      <p:sp>
        <p:nvSpPr>
          <p:cNvPr id="15" name="Text 13"/>
          <p:cNvSpPr/>
          <p:nvPr/>
        </p:nvSpPr>
        <p:spPr>
          <a:xfrm>
            <a:off x="6245352" y="2121408"/>
            <a:ext cx="4882896" cy="4251960"/>
          </a:xfrm>
          <a:prstGeom prst="rect">
            <a:avLst/>
          </a:prstGeom>
          <a:noFill/>
          <a:ln/>
        </p:spPr>
        <p:txBody>
          <a:bodyPr wrap="square" rtlCol="0" anchor="t"/>
          <a:lstStyle/>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distance[source] = 0;</a:t>
            </a:r>
            <a:endParaRPr lang="en-US" sz="840" dirty="0"/>
          </a:p>
          <a:p>
            <a:pPr indent="0" marL="0">
              <a:lnSpc>
                <a:spcPct val="100000"/>
              </a:lnSpc>
              <a:buNone/>
            </a:pP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for (int i = 0; i &lt; vertices - 1; i++) {</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bool updated = false;</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for (Edge edge : edgeList) {</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if (distance[edge.u] == INF) continue;</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if (distance[edge.u] + edge.weight</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&lt; distance[edge.v]) {</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distance[edge.v] =</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distance[edge.u] + edge.weight;</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parent[edge.v] = edge.u;</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updated = true;</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if (!updated) break;</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a:t>
            </a:r>
            <a:endParaRPr lang="en-US" sz="840" dirty="0"/>
          </a:p>
          <a:p>
            <a:pPr indent="0" marL="0">
              <a:lnSpc>
                <a:spcPct val="100000"/>
              </a:lnSpc>
              <a:buNone/>
            </a:pP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final pass — detect negative-weight cycle</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for (Edge edge : edgeList) {</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if (distance[edge.u] == INF) continue;</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if (distance[edge.u] + edge.weight</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&lt; distance[edge.v]) {</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cout &lt;&lt; "Negative Weight Cycle Detected!\n";</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return;</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    }</a:t>
            </a:r>
            <a:endParaRPr lang="en-US" sz="840" dirty="0"/>
          </a:p>
          <a:p>
            <a:pPr indent="0" marL="0">
              <a:lnSpc>
                <a:spcPct val="100000"/>
              </a:lnSpc>
              <a:buNone/>
            </a:pPr>
            <a:r>
              <a:rPr lang="en-US" sz="840" dirty="0">
                <a:solidFill>
                  <a:srgbClr val="D7E4EE"/>
                </a:solidFill>
                <a:latin typeface="Courier New" pitchFamily="34" charset="0"/>
                <a:ea typeface="Courier New" pitchFamily="34" charset="-122"/>
                <a:cs typeface="Courier New" pitchFamily="34" charset="-120"/>
              </a:rPr>
              <a:t>}</a:t>
            </a:r>
            <a:endParaRPr lang="en-US" sz="840" dirty="0"/>
          </a:p>
        </p:txBody>
      </p:sp>
      <p:sp>
        <p:nvSpPr>
          <p:cNvPr id="16" name="Text 1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AA5A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82296" cy="310896"/>
          </a:xfrm>
          <a:prstGeom prst="rect">
            <a:avLst/>
          </a:prstGeom>
          <a:solidFill>
            <a:srgbClr val="C99A3E"/>
          </a:solidFill>
          <a:ln/>
        </p:spPr>
      </p:sp>
      <p:sp>
        <p:nvSpPr>
          <p:cNvPr id="3" name="Text 1"/>
          <p:cNvSpPr/>
          <p:nvPr/>
        </p:nvSpPr>
        <p:spPr>
          <a:xfrm>
            <a:off x="804672" y="411480"/>
            <a:ext cx="548640" cy="365760"/>
          </a:xfrm>
          <a:prstGeom prst="rect">
            <a:avLst/>
          </a:prstGeom>
          <a:noFill/>
          <a:ln/>
        </p:spPr>
        <p:txBody>
          <a:bodyPr wrap="square" rtlCol="0" anchor="ctr"/>
          <a:lstStyle/>
          <a:p>
            <a:pPr indent="0" marL="0">
              <a:buNone/>
            </a:pPr>
            <a:r>
              <a:rPr lang="en-US" sz="1200" b="1" dirty="0">
                <a:solidFill>
                  <a:srgbClr val="C99A3E"/>
                </a:solidFill>
                <a:latin typeface="Calibri" pitchFamily="34" charset="0"/>
                <a:ea typeface="Calibri" pitchFamily="34" charset="-122"/>
                <a:cs typeface="Calibri" pitchFamily="34" charset="-120"/>
              </a:rPr>
              <a:t>06</a:t>
            </a:r>
            <a:endParaRPr lang="en-US" sz="1200" dirty="0"/>
          </a:p>
        </p:txBody>
      </p:sp>
      <p:sp>
        <p:nvSpPr>
          <p:cNvPr id="4" name="Text 2"/>
          <p:cNvSpPr/>
          <p:nvPr/>
        </p:nvSpPr>
        <p:spPr>
          <a:xfrm>
            <a:off x="1097280" y="411480"/>
            <a:ext cx="7315200" cy="365760"/>
          </a:xfrm>
          <a:prstGeom prst="rect">
            <a:avLst/>
          </a:prstGeom>
          <a:noFill/>
          <a:ln/>
        </p:spPr>
        <p:txBody>
          <a:bodyPr wrap="square" rtlCol="0" anchor="ctr"/>
          <a:lstStyle/>
          <a:p>
            <a:pPr indent="0" marL="0">
              <a:buNone/>
            </a:pPr>
            <a:r>
              <a:rPr lang="en-US" sz="1200" b="1" spc="150" kern="0" dirty="0">
                <a:solidFill>
                  <a:srgbClr val="5B6472"/>
                </a:solidFill>
                <a:latin typeface="Calibri" pitchFamily="34" charset="0"/>
                <a:ea typeface="Calibri" pitchFamily="34" charset="-122"/>
                <a:cs typeface="Calibri" pitchFamily="34" charset="-120"/>
              </a:rPr>
              <a:t>ALGORITHM DETAIL</a:t>
            </a:r>
            <a:endParaRPr lang="en-US" sz="1200" dirty="0"/>
          </a:p>
        </p:txBody>
      </p:sp>
      <p:sp>
        <p:nvSpPr>
          <p:cNvPr id="5" name="Shape 3"/>
          <p:cNvSpPr/>
          <p:nvPr/>
        </p:nvSpPr>
        <p:spPr>
          <a:xfrm>
            <a:off x="640080" y="786384"/>
            <a:ext cx="10881360" cy="0"/>
          </a:xfrm>
          <a:prstGeom prst="line">
            <a:avLst/>
          </a:prstGeom>
          <a:noFill/>
          <a:ln w="9525">
            <a:solidFill>
              <a:srgbClr val="D8DEE4"/>
            </a:solidFill>
            <a:prstDash val="solid"/>
          </a:ln>
        </p:spPr>
      </p:sp>
      <p:sp>
        <p:nvSpPr>
          <p:cNvPr id="6" name="Text 4"/>
          <p:cNvSpPr/>
          <p:nvPr/>
        </p:nvSpPr>
        <p:spPr>
          <a:xfrm>
            <a:off x="640080" y="914400"/>
            <a:ext cx="10881360" cy="777240"/>
          </a:xfrm>
          <a:prstGeom prst="rect">
            <a:avLst/>
          </a:prstGeom>
          <a:noFill/>
          <a:ln/>
        </p:spPr>
        <p:txBody>
          <a:bodyPr wrap="square" rtlCol="0" anchor="ctr"/>
          <a:lstStyle/>
          <a:p>
            <a:pPr indent="0" marL="0">
              <a:buNone/>
            </a:pPr>
            <a:r>
              <a:rPr lang="en-US" sz="2800" b="1" dirty="0">
                <a:solidFill>
                  <a:srgbClr val="0A1930"/>
                </a:solidFill>
                <a:latin typeface="Cambria" pitchFamily="34" charset="0"/>
                <a:ea typeface="Cambria" pitchFamily="34" charset="-122"/>
                <a:cs typeface="Cambria" pitchFamily="34" charset="-120"/>
              </a:rPr>
              <a:t>A* Search Algorithm &amp; Benefits</a:t>
            </a:r>
            <a:endParaRPr lang="en-US" sz="2800" dirty="0"/>
          </a:p>
        </p:txBody>
      </p:sp>
      <p:sp>
        <p:nvSpPr>
          <p:cNvPr id="7" name="Text 5"/>
          <p:cNvSpPr/>
          <p:nvPr/>
        </p:nvSpPr>
        <p:spPr>
          <a:xfrm>
            <a:off x="640080" y="1828800"/>
            <a:ext cx="5166360" cy="320040"/>
          </a:xfrm>
          <a:prstGeom prst="rect">
            <a:avLst/>
          </a:prstGeom>
          <a:noFill/>
          <a:ln/>
        </p:spPr>
        <p:txBody>
          <a:bodyPr wrap="square" rtlCol="0" anchor="ctr"/>
          <a:lstStyle/>
          <a:p>
            <a:pPr indent="0" marL="0">
              <a:buNone/>
            </a:pPr>
            <a:r>
              <a:rPr lang="en-US" sz="1350" b="1" dirty="0">
                <a:solidFill>
                  <a:srgbClr val="9A7420"/>
                </a:solidFill>
                <a:latin typeface="Calibri" pitchFamily="34" charset="0"/>
                <a:ea typeface="Calibri" pitchFamily="34" charset="-122"/>
                <a:cs typeface="Calibri" pitchFamily="34" charset="-120"/>
              </a:rPr>
              <a:t>How it works</a:t>
            </a:r>
            <a:endParaRPr lang="en-US" sz="1350" dirty="0"/>
          </a:p>
        </p:txBody>
      </p:sp>
      <p:sp>
        <p:nvSpPr>
          <p:cNvPr id="8" name="Text 6"/>
          <p:cNvSpPr/>
          <p:nvPr/>
        </p:nvSpPr>
        <p:spPr>
          <a:xfrm>
            <a:off x="640080" y="2176272"/>
            <a:ext cx="5166360" cy="1508760"/>
          </a:xfrm>
          <a:prstGeom prst="rect">
            <a:avLst/>
          </a:prstGeom>
          <a:noFill/>
          <a:ln/>
        </p:spPr>
        <p:txBody>
          <a:bodyPr wrap="square" rtlCol="0" anchor="ctr"/>
          <a:lstStyle/>
          <a:p>
            <a:pPr indent="0" marL="0">
              <a:lnSpc>
                <a:spcPct val="132000"/>
              </a:lnSpc>
              <a:buNone/>
            </a:pPr>
            <a:r>
              <a:rPr lang="en-US" sz="1200" dirty="0">
                <a:solidFill>
                  <a:srgbClr val="1B1F27"/>
                </a:solidFill>
                <a:latin typeface="Calibri" pitchFamily="34" charset="0"/>
                <a:ea typeface="Calibri" pitchFamily="34" charset="-122"/>
                <a:cs typeface="Calibri" pitchFamily="34" charset="-120"/>
              </a:rPr>
              <a:t>A* adds a heuristic — straight-line distance to the destination — on top of Dijkstra's logic, so the search is pulled toward the goal instead of expanding evenly in every direction. It stops the moment the destination is reached.</a:t>
            </a:r>
            <a:endParaRPr lang="en-US" sz="1200" dirty="0"/>
          </a:p>
        </p:txBody>
      </p:sp>
      <p:sp>
        <p:nvSpPr>
          <p:cNvPr id="9" name="Text 7"/>
          <p:cNvSpPr/>
          <p:nvPr/>
        </p:nvSpPr>
        <p:spPr>
          <a:xfrm>
            <a:off x="640080" y="3794760"/>
            <a:ext cx="5166360" cy="320040"/>
          </a:xfrm>
          <a:prstGeom prst="rect">
            <a:avLst/>
          </a:prstGeom>
          <a:noFill/>
          <a:ln/>
        </p:spPr>
        <p:txBody>
          <a:bodyPr wrap="square" rtlCol="0" anchor="ctr"/>
          <a:lstStyle/>
          <a:p>
            <a:pPr indent="0" marL="0">
              <a:buNone/>
            </a:pPr>
            <a:r>
              <a:rPr lang="en-US" sz="1350" b="1" dirty="0">
                <a:solidFill>
                  <a:srgbClr val="9A7420"/>
                </a:solidFill>
                <a:latin typeface="Calibri" pitchFamily="34" charset="0"/>
                <a:ea typeface="Calibri" pitchFamily="34" charset="-122"/>
                <a:cs typeface="Calibri" pitchFamily="34" charset="-120"/>
              </a:rPr>
              <a:t>Benefits for this system</a:t>
            </a:r>
            <a:endParaRPr lang="en-US" sz="1350" dirty="0"/>
          </a:p>
        </p:txBody>
      </p:sp>
      <p:sp>
        <p:nvSpPr>
          <p:cNvPr id="10" name="Text 8"/>
          <p:cNvSpPr/>
          <p:nvPr/>
        </p:nvSpPr>
        <p:spPr>
          <a:xfrm>
            <a:off x="640080" y="4160520"/>
            <a:ext cx="5166360" cy="457200"/>
          </a:xfrm>
          <a:prstGeom prst="rect">
            <a:avLst/>
          </a:prstGeom>
          <a:noFill/>
          <a:ln/>
        </p:spPr>
        <p:txBody>
          <a:bodyPr wrap="square" rtlCol="0" anchor="ctr"/>
          <a:lstStyle/>
          <a:p>
            <a:pPr marL="342900" indent="-342900">
              <a:lnSpc>
                <a:spcPct val="120000"/>
              </a:lnSpc>
              <a:buSzPct val="100000"/>
              <a:buChar char="–"/>
            </a:pPr>
            <a:r>
              <a:rPr lang="en-US" sz="1200" dirty="0">
                <a:solidFill>
                  <a:srgbClr val="1B1F27"/>
                </a:solidFill>
                <a:latin typeface="Calibri" pitchFamily="34" charset="0"/>
                <a:ea typeface="Calibri" pitchFamily="34" charset="-122"/>
                <a:cs typeface="Calibri" pitchFamily="34" charset="-120"/>
              </a:rPr>
              <a:t>Reaches the same optimal route as Dijkstra with far less exploration</a:t>
            </a:r>
            <a:endParaRPr lang="en-US" sz="1200" dirty="0"/>
          </a:p>
        </p:txBody>
      </p:sp>
      <p:sp>
        <p:nvSpPr>
          <p:cNvPr id="11" name="Text 9"/>
          <p:cNvSpPr/>
          <p:nvPr/>
        </p:nvSpPr>
        <p:spPr>
          <a:xfrm>
            <a:off x="640080" y="4617720"/>
            <a:ext cx="5166360" cy="457200"/>
          </a:xfrm>
          <a:prstGeom prst="rect">
            <a:avLst/>
          </a:prstGeom>
          <a:noFill/>
          <a:ln/>
        </p:spPr>
        <p:txBody>
          <a:bodyPr wrap="square" rtlCol="0" anchor="ctr"/>
          <a:lstStyle/>
          <a:p>
            <a:pPr marL="342900" indent="-342900">
              <a:lnSpc>
                <a:spcPct val="120000"/>
              </a:lnSpc>
              <a:buSzPct val="100000"/>
              <a:buChar char="–"/>
            </a:pPr>
            <a:r>
              <a:rPr lang="en-US" sz="1200" dirty="0">
                <a:solidFill>
                  <a:srgbClr val="1B1F27"/>
                </a:solidFill>
                <a:latin typeface="Calibri" pitchFamily="34" charset="0"/>
                <a:ea typeface="Calibri" pitchFamily="34" charset="-122"/>
                <a:cs typeface="Calibri" pitchFamily="34" charset="-120"/>
              </a:rPr>
              <a:t>Best suited to real-time queries where a rider is waiting on an answer</a:t>
            </a:r>
            <a:endParaRPr lang="en-US" sz="1200" dirty="0"/>
          </a:p>
        </p:txBody>
      </p:sp>
      <p:sp>
        <p:nvSpPr>
          <p:cNvPr id="12" name="Text 10"/>
          <p:cNvSpPr/>
          <p:nvPr/>
        </p:nvSpPr>
        <p:spPr>
          <a:xfrm>
            <a:off x="640080" y="5074920"/>
            <a:ext cx="5166360" cy="457200"/>
          </a:xfrm>
          <a:prstGeom prst="rect">
            <a:avLst/>
          </a:prstGeom>
          <a:noFill/>
          <a:ln/>
        </p:spPr>
        <p:txBody>
          <a:bodyPr wrap="square" rtlCol="0" anchor="ctr"/>
          <a:lstStyle/>
          <a:p>
            <a:pPr marL="342900" indent="-342900">
              <a:lnSpc>
                <a:spcPct val="120000"/>
              </a:lnSpc>
              <a:buSzPct val="100000"/>
              <a:buChar char="–"/>
            </a:pPr>
            <a:r>
              <a:rPr lang="en-US" sz="1200" dirty="0">
                <a:solidFill>
                  <a:srgbClr val="1B1F27"/>
                </a:solidFill>
                <a:latin typeface="Calibri" pitchFamily="34" charset="0"/>
                <a:ea typeface="Calibri" pitchFamily="34" charset="-122"/>
                <a:cs typeface="Calibri" pitchFamily="34" charset="-120"/>
              </a:rPr>
              <a:t>Scales the most gracefully as the road network grows larger</a:t>
            </a:r>
            <a:endParaRPr lang="en-US" sz="1200" dirty="0"/>
          </a:p>
        </p:txBody>
      </p:sp>
      <p:sp>
        <p:nvSpPr>
          <p:cNvPr id="13" name="Shape 11"/>
          <p:cNvSpPr/>
          <p:nvPr/>
        </p:nvSpPr>
        <p:spPr>
          <a:xfrm>
            <a:off x="5989320" y="1664208"/>
            <a:ext cx="5394960" cy="4846320"/>
          </a:xfrm>
          <a:prstGeom prst="rect">
            <a:avLst/>
          </a:prstGeom>
          <a:solidFill>
            <a:srgbClr val="0A1930"/>
          </a:solidFill>
          <a:ln/>
        </p:spPr>
      </p:sp>
      <p:sp>
        <p:nvSpPr>
          <p:cNvPr id="14" name="Text 12"/>
          <p:cNvSpPr/>
          <p:nvPr/>
        </p:nvSpPr>
        <p:spPr>
          <a:xfrm>
            <a:off x="6245352" y="1828800"/>
            <a:ext cx="3657600" cy="237744"/>
          </a:xfrm>
          <a:prstGeom prst="rect">
            <a:avLst/>
          </a:prstGeom>
          <a:noFill/>
          <a:ln/>
        </p:spPr>
        <p:txBody>
          <a:bodyPr wrap="square" rtlCol="0" anchor="ctr"/>
          <a:lstStyle/>
          <a:p>
            <a:pPr indent="0" marL="0">
              <a:buNone/>
            </a:pPr>
            <a:r>
              <a:rPr lang="en-US" sz="1100" b="1" dirty="0">
                <a:solidFill>
                  <a:srgbClr val="7FA6BE"/>
                </a:solidFill>
                <a:latin typeface="Courier New" pitchFamily="34" charset="0"/>
                <a:ea typeface="Courier New" pitchFamily="34" charset="-122"/>
                <a:cs typeface="Courier New" pitchFamily="34" charset="-120"/>
              </a:rPr>
              <a:t>a_star.cpp</a:t>
            </a:r>
            <a:endParaRPr lang="en-US" sz="1100" dirty="0"/>
          </a:p>
        </p:txBody>
      </p:sp>
      <p:sp>
        <p:nvSpPr>
          <p:cNvPr id="15" name="Text 13"/>
          <p:cNvSpPr/>
          <p:nvPr/>
        </p:nvSpPr>
        <p:spPr>
          <a:xfrm>
            <a:off x="6245352" y="2121408"/>
            <a:ext cx="4882896" cy="4251960"/>
          </a:xfrm>
          <a:prstGeom prst="rect">
            <a:avLst/>
          </a:prstGeom>
          <a:noFill/>
          <a:ln/>
        </p:spPr>
        <p:txBody>
          <a:bodyPr wrap="square" rtlCol="0" anchor="t"/>
          <a:lstStyle/>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double heuristic(int a, int b) {</a:t>
            </a: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    double dx = coords[a].x - coords[b].x;</a:t>
            </a: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    double dy = coords[a].y - coords[b].y;</a:t>
            </a: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    return sqrt(dx*dx + dy*dy);</a:t>
            </a: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a:t>
            </a:r>
            <a:endParaRPr lang="en-US" sz="1300" dirty="0"/>
          </a:p>
          <a:p>
            <a:pPr indent="0" marL="0">
              <a:lnSpc>
                <a:spcPct val="100000"/>
              </a:lnSpc>
              <a:buNone/>
            </a:pP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 edge relaxation — f(n) = g(n) + h(n)</a:t>
            </a: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double nd = dist[u] + e.weight;</a:t>
            </a: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if (nd &lt; dist[e.destination]) {</a:t>
            </a: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    dist[e.destination] = nd;</a:t>
            </a: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    par[e.destination]  = u;</a:t>
            </a: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    pq.push({</a:t>
            </a: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        nd + heuristic(e.destination, d),</a:t>
            </a: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        e.destination</a:t>
            </a: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D7E4EE"/>
                </a:solidFill>
                <a:latin typeface="Courier New" pitchFamily="34" charset="0"/>
                <a:ea typeface="Courier New" pitchFamily="34" charset="-122"/>
                <a:cs typeface="Courier New" pitchFamily="34" charset="-120"/>
              </a:rPr>
              <a:t>}</a:t>
            </a:r>
            <a:endParaRPr lang="en-US" sz="1300" dirty="0"/>
          </a:p>
        </p:txBody>
      </p:sp>
      <p:sp>
        <p:nvSpPr>
          <p:cNvPr id="16" name="Text 1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AA5A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82296" cy="310896"/>
          </a:xfrm>
          <a:prstGeom prst="rect">
            <a:avLst/>
          </a:prstGeom>
          <a:solidFill>
            <a:srgbClr val="C99A3E"/>
          </a:solidFill>
          <a:ln/>
        </p:spPr>
      </p:sp>
      <p:sp>
        <p:nvSpPr>
          <p:cNvPr id="3" name="Text 1"/>
          <p:cNvSpPr/>
          <p:nvPr/>
        </p:nvSpPr>
        <p:spPr>
          <a:xfrm>
            <a:off x="804672" y="411480"/>
            <a:ext cx="548640" cy="365760"/>
          </a:xfrm>
          <a:prstGeom prst="rect">
            <a:avLst/>
          </a:prstGeom>
          <a:noFill/>
          <a:ln/>
        </p:spPr>
        <p:txBody>
          <a:bodyPr wrap="square" rtlCol="0" anchor="ctr"/>
          <a:lstStyle/>
          <a:p>
            <a:pPr indent="0" marL="0">
              <a:buNone/>
            </a:pPr>
            <a:r>
              <a:rPr lang="en-US" sz="1200" b="1" dirty="0">
                <a:solidFill>
                  <a:srgbClr val="C99A3E"/>
                </a:solidFill>
                <a:latin typeface="Calibri" pitchFamily="34" charset="0"/>
                <a:ea typeface="Calibri" pitchFamily="34" charset="-122"/>
                <a:cs typeface="Calibri" pitchFamily="34" charset="-120"/>
              </a:rPr>
              <a:t>07</a:t>
            </a:r>
            <a:endParaRPr lang="en-US" sz="1200" dirty="0"/>
          </a:p>
        </p:txBody>
      </p:sp>
      <p:sp>
        <p:nvSpPr>
          <p:cNvPr id="4" name="Text 2"/>
          <p:cNvSpPr/>
          <p:nvPr/>
        </p:nvSpPr>
        <p:spPr>
          <a:xfrm>
            <a:off x="1097280" y="411480"/>
            <a:ext cx="7315200" cy="365760"/>
          </a:xfrm>
          <a:prstGeom prst="rect">
            <a:avLst/>
          </a:prstGeom>
          <a:noFill/>
          <a:ln/>
        </p:spPr>
        <p:txBody>
          <a:bodyPr wrap="square" rtlCol="0" anchor="ctr"/>
          <a:lstStyle/>
          <a:p>
            <a:pPr indent="0" marL="0">
              <a:buNone/>
            </a:pPr>
            <a:r>
              <a:rPr lang="en-US" sz="1200" b="1" spc="150" kern="0" dirty="0">
                <a:solidFill>
                  <a:srgbClr val="5B6472"/>
                </a:solidFill>
                <a:latin typeface="Calibri" pitchFamily="34" charset="0"/>
                <a:ea typeface="Calibri" pitchFamily="34" charset="-122"/>
                <a:cs typeface="Calibri" pitchFamily="34" charset="-120"/>
              </a:rPr>
              <a:t>RESULTS</a:t>
            </a:r>
            <a:endParaRPr lang="en-US" sz="1200" dirty="0"/>
          </a:p>
        </p:txBody>
      </p:sp>
      <p:sp>
        <p:nvSpPr>
          <p:cNvPr id="5" name="Shape 3"/>
          <p:cNvSpPr/>
          <p:nvPr/>
        </p:nvSpPr>
        <p:spPr>
          <a:xfrm>
            <a:off x="640080" y="786384"/>
            <a:ext cx="10881360" cy="0"/>
          </a:xfrm>
          <a:prstGeom prst="line">
            <a:avLst/>
          </a:prstGeom>
          <a:noFill/>
          <a:ln w="9525">
            <a:solidFill>
              <a:srgbClr val="D8DEE4"/>
            </a:solidFill>
            <a:prstDash val="solid"/>
          </a:ln>
        </p:spPr>
      </p:sp>
      <p:sp>
        <p:nvSpPr>
          <p:cNvPr id="6" name="Text 4"/>
          <p:cNvSpPr/>
          <p:nvPr/>
        </p:nvSpPr>
        <p:spPr>
          <a:xfrm>
            <a:off x="640080" y="914400"/>
            <a:ext cx="10881360" cy="777240"/>
          </a:xfrm>
          <a:prstGeom prst="rect">
            <a:avLst/>
          </a:prstGeom>
          <a:noFill/>
          <a:ln/>
        </p:spPr>
        <p:txBody>
          <a:bodyPr wrap="square" rtlCol="0" anchor="ctr"/>
          <a:lstStyle/>
          <a:p>
            <a:pPr indent="0" marL="0">
              <a:buNone/>
            </a:pPr>
            <a:r>
              <a:rPr lang="en-US" sz="2800" b="1" dirty="0">
                <a:solidFill>
                  <a:srgbClr val="0A1930"/>
                </a:solidFill>
                <a:latin typeface="Cambria" pitchFamily="34" charset="0"/>
                <a:ea typeface="Cambria" pitchFamily="34" charset="-122"/>
                <a:cs typeface="Cambria" pitchFamily="34" charset="-120"/>
              </a:rPr>
              <a:t>Output &amp; Behavioral Comparison</a:t>
            </a:r>
            <a:endParaRPr lang="en-US" sz="2800" dirty="0"/>
          </a:p>
        </p:txBody>
      </p:sp>
      <p:sp>
        <p:nvSpPr>
          <p:cNvPr id="7" name="Text 5"/>
          <p:cNvSpPr/>
          <p:nvPr/>
        </p:nvSpPr>
        <p:spPr>
          <a:xfrm>
            <a:off x="640080" y="1828800"/>
            <a:ext cx="7315200" cy="320040"/>
          </a:xfrm>
          <a:prstGeom prst="rect">
            <a:avLst/>
          </a:prstGeom>
          <a:noFill/>
          <a:ln/>
        </p:spPr>
        <p:txBody>
          <a:bodyPr wrap="square" rtlCol="0" anchor="ctr"/>
          <a:lstStyle/>
          <a:p>
            <a:pPr indent="0" marL="0">
              <a:buNone/>
            </a:pPr>
            <a:r>
              <a:rPr lang="en-US" sz="1350" b="1" dirty="0">
                <a:solidFill>
                  <a:srgbClr val="0A4C8A"/>
                </a:solidFill>
                <a:latin typeface="Calibri" pitchFamily="34" charset="0"/>
                <a:ea typeface="Calibri" pitchFamily="34" charset="-122"/>
                <a:cs typeface="Calibri" pitchFamily="34" charset="-120"/>
              </a:rPr>
              <a:t>Sample query: Motijheel → Mirpur_10</a:t>
            </a:r>
            <a:endParaRPr lang="en-US" sz="1350" dirty="0"/>
          </a:p>
        </p:txBody>
      </p:sp>
      <p:sp>
        <p:nvSpPr>
          <p:cNvPr id="8" name="Shape 6"/>
          <p:cNvSpPr/>
          <p:nvPr/>
        </p:nvSpPr>
        <p:spPr>
          <a:xfrm>
            <a:off x="640080" y="2240280"/>
            <a:ext cx="1152144" cy="438912"/>
          </a:xfrm>
          <a:prstGeom prst="roundRect">
            <a:avLst>
              <a:gd name="adj" fmla="val 50000"/>
            </a:avLst>
          </a:prstGeom>
          <a:solidFill>
            <a:srgbClr val="0A4C8A"/>
          </a:solidFill>
          <a:ln/>
        </p:spPr>
      </p:sp>
      <p:sp>
        <p:nvSpPr>
          <p:cNvPr id="9" name="Text 7"/>
          <p:cNvSpPr/>
          <p:nvPr/>
        </p:nvSpPr>
        <p:spPr>
          <a:xfrm>
            <a:off x="640080" y="2240280"/>
            <a:ext cx="1152144" cy="43891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Motijheel</a:t>
            </a:r>
            <a:endParaRPr lang="en-US" sz="1050" dirty="0"/>
          </a:p>
        </p:txBody>
      </p:sp>
      <p:sp>
        <p:nvSpPr>
          <p:cNvPr id="10" name="Text 8"/>
          <p:cNvSpPr/>
          <p:nvPr/>
        </p:nvSpPr>
        <p:spPr>
          <a:xfrm>
            <a:off x="1883664" y="2240280"/>
            <a:ext cx="237744" cy="438912"/>
          </a:xfrm>
          <a:prstGeom prst="rect">
            <a:avLst/>
          </a:prstGeom>
          <a:noFill/>
          <a:ln/>
        </p:spPr>
        <p:txBody>
          <a:bodyPr wrap="square"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2157984" y="2240280"/>
            <a:ext cx="822960" cy="438912"/>
          </a:xfrm>
          <a:prstGeom prst="roundRect">
            <a:avLst>
              <a:gd name="adj" fmla="val 50000"/>
            </a:avLst>
          </a:prstGeom>
          <a:solidFill>
            <a:srgbClr val="1F9D63"/>
          </a:solidFill>
          <a:ln/>
        </p:spPr>
      </p:sp>
      <p:sp>
        <p:nvSpPr>
          <p:cNvPr id="12" name="Text 10"/>
          <p:cNvSpPr/>
          <p:nvPr/>
        </p:nvSpPr>
        <p:spPr>
          <a:xfrm>
            <a:off x="2157984" y="2240280"/>
            <a:ext cx="822960" cy="43891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Ramna</a:t>
            </a:r>
            <a:endParaRPr lang="en-US" sz="1050" dirty="0"/>
          </a:p>
        </p:txBody>
      </p:sp>
      <p:sp>
        <p:nvSpPr>
          <p:cNvPr id="13" name="Text 11"/>
          <p:cNvSpPr/>
          <p:nvPr/>
        </p:nvSpPr>
        <p:spPr>
          <a:xfrm>
            <a:off x="3072384" y="2240280"/>
            <a:ext cx="237744" cy="438912"/>
          </a:xfrm>
          <a:prstGeom prst="rect">
            <a:avLst/>
          </a:prstGeom>
          <a:noFill/>
          <a:ln/>
        </p:spPr>
        <p:txBody>
          <a:bodyPr wrap="square"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a:t>
            </a:r>
            <a:endParaRPr lang="en-US" sz="1300" dirty="0"/>
          </a:p>
        </p:txBody>
      </p:sp>
      <p:sp>
        <p:nvSpPr>
          <p:cNvPr id="14" name="Shape 12"/>
          <p:cNvSpPr/>
          <p:nvPr/>
        </p:nvSpPr>
        <p:spPr>
          <a:xfrm>
            <a:off x="3346704" y="2240280"/>
            <a:ext cx="987552" cy="438912"/>
          </a:xfrm>
          <a:prstGeom prst="roundRect">
            <a:avLst>
              <a:gd name="adj" fmla="val 50000"/>
            </a:avLst>
          </a:prstGeom>
          <a:solidFill>
            <a:srgbClr val="1F9D63"/>
          </a:solidFill>
          <a:ln/>
        </p:spPr>
      </p:sp>
      <p:sp>
        <p:nvSpPr>
          <p:cNvPr id="15" name="Text 13"/>
          <p:cNvSpPr/>
          <p:nvPr/>
        </p:nvSpPr>
        <p:spPr>
          <a:xfrm>
            <a:off x="3346704" y="2240280"/>
            <a:ext cx="987552" cy="43891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Nilkhet</a:t>
            </a:r>
            <a:endParaRPr lang="en-US" sz="1050" dirty="0"/>
          </a:p>
        </p:txBody>
      </p:sp>
      <p:sp>
        <p:nvSpPr>
          <p:cNvPr id="16" name="Text 14"/>
          <p:cNvSpPr/>
          <p:nvPr/>
        </p:nvSpPr>
        <p:spPr>
          <a:xfrm>
            <a:off x="4425696" y="2240280"/>
            <a:ext cx="237744" cy="438912"/>
          </a:xfrm>
          <a:prstGeom prst="rect">
            <a:avLst/>
          </a:prstGeom>
          <a:noFill/>
          <a:ln/>
        </p:spPr>
        <p:txBody>
          <a:bodyPr wrap="square"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4700016" y="2240280"/>
            <a:ext cx="740664" cy="438912"/>
          </a:xfrm>
          <a:prstGeom prst="roundRect">
            <a:avLst>
              <a:gd name="adj" fmla="val 50000"/>
            </a:avLst>
          </a:prstGeom>
          <a:solidFill>
            <a:srgbClr val="1F9D63"/>
          </a:solidFill>
          <a:ln/>
        </p:spPr>
      </p:sp>
      <p:sp>
        <p:nvSpPr>
          <p:cNvPr id="18" name="Text 16"/>
          <p:cNvSpPr/>
          <p:nvPr/>
        </p:nvSpPr>
        <p:spPr>
          <a:xfrm>
            <a:off x="4700016" y="2240280"/>
            <a:ext cx="740664" cy="43891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Wari</a:t>
            </a:r>
            <a:endParaRPr lang="en-US" sz="1050" dirty="0"/>
          </a:p>
        </p:txBody>
      </p:sp>
      <p:sp>
        <p:nvSpPr>
          <p:cNvPr id="19" name="Text 17"/>
          <p:cNvSpPr/>
          <p:nvPr/>
        </p:nvSpPr>
        <p:spPr>
          <a:xfrm>
            <a:off x="5532120" y="2240280"/>
            <a:ext cx="237744" cy="438912"/>
          </a:xfrm>
          <a:prstGeom prst="rect">
            <a:avLst/>
          </a:prstGeom>
          <a:noFill/>
          <a:ln/>
        </p:spPr>
        <p:txBody>
          <a:bodyPr wrap="square"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5806440" y="2240280"/>
            <a:ext cx="1069848" cy="438912"/>
          </a:xfrm>
          <a:prstGeom prst="roundRect">
            <a:avLst>
              <a:gd name="adj" fmla="val 50000"/>
            </a:avLst>
          </a:prstGeom>
          <a:solidFill>
            <a:srgbClr val="1F9D63"/>
          </a:solidFill>
          <a:ln/>
        </p:spPr>
      </p:sp>
      <p:sp>
        <p:nvSpPr>
          <p:cNvPr id="21" name="Text 19"/>
          <p:cNvSpPr/>
          <p:nvPr/>
        </p:nvSpPr>
        <p:spPr>
          <a:xfrm>
            <a:off x="5806440" y="2240280"/>
            <a:ext cx="1069848" cy="43891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Bangshal</a:t>
            </a:r>
            <a:endParaRPr lang="en-US" sz="1050" dirty="0"/>
          </a:p>
        </p:txBody>
      </p:sp>
      <p:sp>
        <p:nvSpPr>
          <p:cNvPr id="22" name="Text 20"/>
          <p:cNvSpPr/>
          <p:nvPr/>
        </p:nvSpPr>
        <p:spPr>
          <a:xfrm>
            <a:off x="6967728" y="2240280"/>
            <a:ext cx="237744" cy="438912"/>
          </a:xfrm>
          <a:prstGeom prst="rect">
            <a:avLst/>
          </a:prstGeom>
          <a:noFill/>
          <a:ln/>
        </p:spPr>
        <p:txBody>
          <a:bodyPr wrap="square"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7242048" y="2240280"/>
            <a:ext cx="1152144" cy="438912"/>
          </a:xfrm>
          <a:prstGeom prst="roundRect">
            <a:avLst>
              <a:gd name="adj" fmla="val 50000"/>
            </a:avLst>
          </a:prstGeom>
          <a:solidFill>
            <a:srgbClr val="1F9D63"/>
          </a:solidFill>
          <a:ln/>
        </p:spPr>
      </p:sp>
      <p:sp>
        <p:nvSpPr>
          <p:cNvPr id="24" name="Text 22"/>
          <p:cNvSpPr/>
          <p:nvPr/>
        </p:nvSpPr>
        <p:spPr>
          <a:xfrm>
            <a:off x="7242048" y="2240280"/>
            <a:ext cx="1152144" cy="43891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Sayedabad</a:t>
            </a:r>
            <a:endParaRPr lang="en-US" sz="1050" dirty="0"/>
          </a:p>
        </p:txBody>
      </p:sp>
      <p:sp>
        <p:nvSpPr>
          <p:cNvPr id="25" name="Text 23"/>
          <p:cNvSpPr/>
          <p:nvPr/>
        </p:nvSpPr>
        <p:spPr>
          <a:xfrm>
            <a:off x="8485632" y="2240280"/>
            <a:ext cx="237744" cy="438912"/>
          </a:xfrm>
          <a:prstGeom prst="rect">
            <a:avLst/>
          </a:prstGeom>
          <a:noFill/>
          <a:ln/>
        </p:spPr>
        <p:txBody>
          <a:bodyPr wrap="square"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a:t>
            </a:r>
            <a:endParaRPr lang="en-US" sz="1300" dirty="0"/>
          </a:p>
        </p:txBody>
      </p:sp>
      <p:sp>
        <p:nvSpPr>
          <p:cNvPr id="26" name="Shape 24"/>
          <p:cNvSpPr/>
          <p:nvPr/>
        </p:nvSpPr>
        <p:spPr>
          <a:xfrm>
            <a:off x="8759952" y="2240280"/>
            <a:ext cx="1152144" cy="438912"/>
          </a:xfrm>
          <a:prstGeom prst="roundRect">
            <a:avLst>
              <a:gd name="adj" fmla="val 50000"/>
            </a:avLst>
          </a:prstGeom>
          <a:solidFill>
            <a:srgbClr val="0A4C8A"/>
          </a:solidFill>
          <a:ln/>
        </p:spPr>
      </p:sp>
      <p:sp>
        <p:nvSpPr>
          <p:cNvPr id="27" name="Text 25"/>
          <p:cNvSpPr/>
          <p:nvPr/>
        </p:nvSpPr>
        <p:spPr>
          <a:xfrm>
            <a:off x="8759952" y="2240280"/>
            <a:ext cx="1152144" cy="43891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Mirpur_10</a:t>
            </a:r>
            <a:endParaRPr lang="en-US" sz="1050" dirty="0"/>
          </a:p>
        </p:txBody>
      </p:sp>
      <p:sp>
        <p:nvSpPr>
          <p:cNvPr id="28" name="Text 26"/>
          <p:cNvSpPr/>
          <p:nvPr/>
        </p:nvSpPr>
        <p:spPr>
          <a:xfrm>
            <a:off x="640080" y="2880360"/>
            <a:ext cx="10881360" cy="365760"/>
          </a:xfrm>
          <a:prstGeom prst="rect">
            <a:avLst/>
          </a:prstGeom>
          <a:noFill/>
          <a:ln/>
        </p:spPr>
        <p:txBody>
          <a:bodyPr wrap="square" rtlCol="0" anchor="ctr"/>
          <a:lstStyle/>
          <a:p>
            <a:pPr indent="0" marL="0">
              <a:buNone/>
            </a:pPr>
            <a:r>
              <a:rPr lang="en-US" sz="1150" i="1" dirty="0">
                <a:solidFill>
                  <a:srgbClr val="5B6472"/>
                </a:solidFill>
                <a:latin typeface="Calibri" pitchFamily="34" charset="0"/>
                <a:ea typeface="Calibri" pitchFamily="34" charset="-122"/>
                <a:cs typeface="Calibri" pitchFamily="34" charset="-120"/>
              </a:rPr>
              <a:t>All three algorithms agree on this 48 km route — the flooded Wari → Mirpur_10 link is skipped in favor of the longer Bangshal → Sayedabad → Mirpur_10 leg.</a:t>
            </a:r>
            <a:endParaRPr lang="en-US" sz="1150" dirty="0"/>
          </a:p>
        </p:txBody>
      </p:sp>
      <p:sp>
        <p:nvSpPr>
          <p:cNvPr id="29" name="Shape 27"/>
          <p:cNvSpPr/>
          <p:nvPr/>
        </p:nvSpPr>
        <p:spPr>
          <a:xfrm>
            <a:off x="640080" y="3429000"/>
            <a:ext cx="10881360" cy="0"/>
          </a:xfrm>
          <a:prstGeom prst="line">
            <a:avLst/>
          </a:prstGeom>
          <a:noFill/>
          <a:ln w="9525">
            <a:solidFill>
              <a:srgbClr val="D8DEE4"/>
            </a:solidFill>
            <a:prstDash val="solid"/>
          </a:ln>
        </p:spPr>
      </p:sp>
      <p:sp>
        <p:nvSpPr>
          <p:cNvPr id="30" name="Text 28"/>
          <p:cNvSpPr/>
          <p:nvPr/>
        </p:nvSpPr>
        <p:spPr>
          <a:xfrm>
            <a:off x="640080" y="3611880"/>
            <a:ext cx="7315200" cy="320040"/>
          </a:xfrm>
          <a:prstGeom prst="rect">
            <a:avLst/>
          </a:prstGeom>
          <a:noFill/>
          <a:ln/>
        </p:spPr>
        <p:txBody>
          <a:bodyPr wrap="square" rtlCol="0" anchor="ctr"/>
          <a:lstStyle/>
          <a:p>
            <a:pPr indent="0" marL="0">
              <a:buNone/>
            </a:pPr>
            <a:r>
              <a:rPr lang="en-US" sz="1350" b="1" dirty="0">
                <a:solidFill>
                  <a:srgbClr val="0A4C8A"/>
                </a:solidFill>
                <a:latin typeface="Calibri" pitchFamily="34" charset="0"/>
                <a:ea typeface="Calibri" pitchFamily="34" charset="-122"/>
                <a:cs typeface="Calibri" pitchFamily="34" charset="-120"/>
              </a:rPr>
              <a:t>How their behavior differs</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3977640"/>
          <a:ext cx="10881360" cy="2148840"/>
        </p:xfrm>
        <a:graphic>
          <a:graphicData uri="http://schemas.openxmlformats.org/drawingml/2006/table">
            <a:tbl>
              <a:tblPr/>
              <a:tblGrid>
                <a:gridCol w="2468880"/>
                <a:gridCol w="2468880"/>
                <a:gridCol w="3383280"/>
                <a:gridCol w="2560320"/>
              </a:tblGrid>
              <a:tr h="53721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Graph scale</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93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Dijkstra — nodes touched</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93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Bellman-Ford — behavior</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93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 — nodes explored</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930"/>
                    </a:solidFill>
                  </a:tcPr>
                </a:tc>
              </a:tr>
              <a:tr h="537210">
                <a:tc>
                  <a:txBody>
                    <a:bodyPr/>
                    <a:lstStyle/>
                    <a:p>
                      <a:pPr indent="0" marL="0">
                        <a:buNone/>
                      </a:pPr>
                      <a:r>
                        <a:rPr lang="en-US" sz="1050" dirty="0">
                          <a:solidFill>
                            <a:srgbClr val="1B1F27"/>
                          </a:solidFill>
                          <a:latin typeface="Calibri" pitchFamily="34" charset="0"/>
                          <a:ea typeface="Calibri" pitchFamily="34" charset="-122"/>
                          <a:cs typeface="Calibri" pitchFamily="34" charset="-120"/>
                        </a:rPr>
                        <a:t>50 nodes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050" dirty="0">
                          <a:solidFill>
                            <a:srgbClr val="1B1F27"/>
                          </a:solidFill>
                          <a:latin typeface="Calibri" pitchFamily="34" charset="0"/>
                          <a:ea typeface="Calibri" pitchFamily="34" charset="-122"/>
                          <a:cs typeface="Calibri" pitchFamily="34" charset="-120"/>
                        </a:rPr>
                        <a:t>50 (all visited)</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050" dirty="0">
                          <a:solidFill>
                            <a:srgbClr val="1B1F27"/>
                          </a:solidFill>
                          <a:latin typeface="Calibri" pitchFamily="34" charset="0"/>
                          <a:ea typeface="Calibri" pitchFamily="34" charset="-122"/>
                          <a:cs typeface="Calibri" pitchFamily="34" charset="-120"/>
                        </a:rPr>
                        <a:t>Scans every edge, every pass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050" dirty="0">
                          <a:solidFill>
                            <a:srgbClr val="1B1F27"/>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r>
              <a:tr h="537210">
                <a:tc>
                  <a:txBody>
                    <a:bodyPr/>
                    <a:lstStyle/>
                    <a:p>
                      <a:pPr indent="0" marL="0">
                        <a:buNone/>
                      </a:pPr>
                      <a:r>
                        <a:rPr lang="en-US" sz="1050" dirty="0">
                          <a:solidFill>
                            <a:srgbClr val="1B1F27"/>
                          </a:solidFill>
                          <a:latin typeface="Calibri" pitchFamily="34" charset="0"/>
                          <a:ea typeface="Calibri" pitchFamily="34" charset="-122"/>
                          <a:cs typeface="Calibri" pitchFamily="34" charset="-120"/>
                        </a:rPr>
                        <a:t>1,000 nodes / 4,400 edges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050" dirty="0">
                          <a:solidFill>
                            <a:srgbClr val="1B1F27"/>
                          </a:solidFill>
                          <a:latin typeface="Calibri" pitchFamily="34" charset="0"/>
                          <a:ea typeface="Calibri" pitchFamily="34" charset="-122"/>
                          <a:cs typeface="Calibri" pitchFamily="34" charset="-120"/>
                        </a:rPr>
                        <a:t>1,000 (all visited)</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050" dirty="0">
                          <a:solidFill>
                            <a:srgbClr val="1B1F27"/>
                          </a:solidFill>
                          <a:latin typeface="Calibri" pitchFamily="34" charset="0"/>
                          <a:ea typeface="Calibri" pitchFamily="34" charset="-122"/>
                          <a:cs typeface="Calibri" pitchFamily="34" charset="-120"/>
                        </a:rPr>
                        <a:t>4,400 edges scanned, up to 999 passes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050" dirty="0">
                          <a:solidFill>
                            <a:srgbClr val="1B1F27"/>
                          </a:solidFill>
                          <a:latin typeface="Calibri" pitchFamily="34" charset="0"/>
                          <a:ea typeface="Calibri" pitchFamily="34" charset="-122"/>
                          <a:cs typeface="Calibri" pitchFamily="34" charset="-120"/>
                        </a:rPr>
                        <a:t>127</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r>
              <a:tr h="537210">
                <a:tc>
                  <a:txBody>
                    <a:bodyPr/>
                    <a:lstStyle/>
                    <a:p>
                      <a:pPr indent="0" marL="0">
                        <a:buNone/>
                      </a:pPr>
                      <a:r>
                        <a:rPr lang="en-US" sz="1050" dirty="0">
                          <a:solidFill>
                            <a:srgbClr val="1B1F27"/>
                          </a:solidFill>
                          <a:latin typeface="Calibri" pitchFamily="34" charset="0"/>
                          <a:ea typeface="Calibri" pitchFamily="34" charset="-122"/>
                          <a:cs typeface="Calibri" pitchFamily="34" charset="-120"/>
                        </a:rPr>
                        <a:t>5,000 nodes / 22,000 edges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050" dirty="0">
                          <a:solidFill>
                            <a:srgbClr val="1B1F27"/>
                          </a:solidFill>
                          <a:latin typeface="Calibri" pitchFamily="34" charset="0"/>
                          <a:ea typeface="Calibri" pitchFamily="34" charset="-122"/>
                          <a:cs typeface="Calibri" pitchFamily="34" charset="-120"/>
                        </a:rPr>
                        <a:t>5,000 (all visited)</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050" dirty="0">
                          <a:solidFill>
                            <a:srgbClr val="1B1F27"/>
                          </a:solidFill>
                          <a:latin typeface="Calibri" pitchFamily="34" charset="0"/>
                          <a:ea typeface="Calibri" pitchFamily="34" charset="-122"/>
                          <a:cs typeface="Calibri" pitchFamily="34" charset="-120"/>
                        </a:rPr>
                        <a:t>22,000 edges scanned, up to 4,999 passes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c>
                  <a:txBody>
                    <a:bodyPr/>
                    <a:lstStyle/>
                    <a:p>
                      <a:pPr indent="0" marL="0">
                        <a:buNone/>
                      </a:pPr>
                      <a:r>
                        <a:rPr lang="en-US" sz="1050" dirty="0">
                          <a:solidFill>
                            <a:srgbClr val="1B1F27"/>
                          </a:solidFill>
                          <a:latin typeface="Calibri" pitchFamily="34" charset="0"/>
                          <a:ea typeface="Calibri" pitchFamily="34" charset="-122"/>
                          <a:cs typeface="Calibri" pitchFamily="34" charset="-120"/>
                        </a:rPr>
                        <a:t>1,014</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FFFFF"/>
                    </a:solidFill>
                  </a:tcPr>
                </a:tc>
              </a:tr>
            </a:tbl>
          </a:graphicData>
        </a:graphic>
      </p:graphicFrame>
      <p:sp>
        <p:nvSpPr>
          <p:cNvPr id="32" name="Text 29"/>
          <p:cNvSpPr/>
          <p:nvPr/>
        </p:nvSpPr>
        <p:spPr>
          <a:xfrm>
            <a:off x="640080" y="6263640"/>
            <a:ext cx="10881360" cy="32004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Dijkstra and Bellman-Ford both visit the full graph — Bellman-Ford repeats the pass. A* narrows in on the destination and explores a fraction of the graph.</a:t>
            </a:r>
            <a:endParaRPr lang="en-US" sz="1050" dirty="0"/>
          </a:p>
        </p:txBody>
      </p:sp>
      <p:sp>
        <p:nvSpPr>
          <p:cNvPr id="33" name="Text 30"/>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AA5A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82296" cy="310896"/>
          </a:xfrm>
          <a:prstGeom prst="rect">
            <a:avLst/>
          </a:prstGeom>
          <a:solidFill>
            <a:srgbClr val="C99A3E"/>
          </a:solidFill>
          <a:ln/>
        </p:spPr>
      </p:sp>
      <p:sp>
        <p:nvSpPr>
          <p:cNvPr id="3" name="Text 1"/>
          <p:cNvSpPr/>
          <p:nvPr/>
        </p:nvSpPr>
        <p:spPr>
          <a:xfrm>
            <a:off x="804672" y="411480"/>
            <a:ext cx="548640" cy="365760"/>
          </a:xfrm>
          <a:prstGeom prst="rect">
            <a:avLst/>
          </a:prstGeom>
          <a:noFill/>
          <a:ln/>
        </p:spPr>
        <p:txBody>
          <a:bodyPr wrap="square" rtlCol="0" anchor="ctr"/>
          <a:lstStyle/>
          <a:p>
            <a:pPr indent="0" marL="0">
              <a:buNone/>
            </a:pPr>
            <a:r>
              <a:rPr lang="en-US" sz="1200" b="1" dirty="0">
                <a:solidFill>
                  <a:srgbClr val="C99A3E"/>
                </a:solidFill>
                <a:latin typeface="Calibri" pitchFamily="34" charset="0"/>
                <a:ea typeface="Calibri" pitchFamily="34" charset="-122"/>
                <a:cs typeface="Calibri" pitchFamily="34" charset="-120"/>
              </a:rPr>
              <a:t>08</a:t>
            </a:r>
            <a:endParaRPr lang="en-US" sz="1200" dirty="0"/>
          </a:p>
        </p:txBody>
      </p:sp>
      <p:sp>
        <p:nvSpPr>
          <p:cNvPr id="4" name="Text 2"/>
          <p:cNvSpPr/>
          <p:nvPr/>
        </p:nvSpPr>
        <p:spPr>
          <a:xfrm>
            <a:off x="1097280" y="411480"/>
            <a:ext cx="7315200" cy="365760"/>
          </a:xfrm>
          <a:prstGeom prst="rect">
            <a:avLst/>
          </a:prstGeom>
          <a:noFill/>
          <a:ln/>
        </p:spPr>
        <p:txBody>
          <a:bodyPr wrap="square" rtlCol="0" anchor="ctr"/>
          <a:lstStyle/>
          <a:p>
            <a:pPr indent="0" marL="0">
              <a:buNone/>
            </a:pPr>
            <a:r>
              <a:rPr lang="en-US" sz="1200" b="1" spc="150" kern="0" dirty="0">
                <a:solidFill>
                  <a:srgbClr val="5B6472"/>
                </a:solidFill>
                <a:latin typeface="Calibri" pitchFamily="34" charset="0"/>
                <a:ea typeface="Calibri" pitchFamily="34" charset="-122"/>
                <a:cs typeface="Calibri" pitchFamily="34" charset="-120"/>
              </a:rPr>
              <a:t>PERFORMANCE</a:t>
            </a:r>
            <a:endParaRPr lang="en-US" sz="1200" dirty="0"/>
          </a:p>
        </p:txBody>
      </p:sp>
      <p:sp>
        <p:nvSpPr>
          <p:cNvPr id="5" name="Shape 3"/>
          <p:cNvSpPr/>
          <p:nvPr/>
        </p:nvSpPr>
        <p:spPr>
          <a:xfrm>
            <a:off x="640080" y="786384"/>
            <a:ext cx="10881360" cy="0"/>
          </a:xfrm>
          <a:prstGeom prst="line">
            <a:avLst/>
          </a:prstGeom>
          <a:noFill/>
          <a:ln w="9525">
            <a:solidFill>
              <a:srgbClr val="D8DEE4"/>
            </a:solidFill>
            <a:prstDash val="solid"/>
          </a:ln>
        </p:spPr>
      </p:sp>
      <p:sp>
        <p:nvSpPr>
          <p:cNvPr id="6" name="Text 4"/>
          <p:cNvSpPr/>
          <p:nvPr/>
        </p:nvSpPr>
        <p:spPr>
          <a:xfrm>
            <a:off x="640080" y="914400"/>
            <a:ext cx="10881360" cy="777240"/>
          </a:xfrm>
          <a:prstGeom prst="rect">
            <a:avLst/>
          </a:prstGeom>
          <a:noFill/>
          <a:ln/>
        </p:spPr>
        <p:txBody>
          <a:bodyPr wrap="square" rtlCol="0" anchor="ctr"/>
          <a:lstStyle/>
          <a:p>
            <a:pPr indent="0" marL="0">
              <a:buNone/>
            </a:pPr>
            <a:r>
              <a:rPr lang="en-US" sz="2800" b="1" dirty="0">
                <a:solidFill>
                  <a:srgbClr val="0A1930"/>
                </a:solidFill>
                <a:latin typeface="Cambria" pitchFamily="34" charset="0"/>
                <a:ea typeface="Cambria" pitchFamily="34" charset="-122"/>
                <a:cs typeface="Cambria" pitchFamily="34" charset="-120"/>
              </a:rPr>
              <a:t>Time Complexity Differences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5212080" cy="2011680"/>
        </p:xfrm>
        <a:graphic>
          <a:graphicData uri="http://schemas.openxmlformats.org/drawingml/2006/table">
            <a:tbl>
              <a:tblPr/>
              <a:tblGrid>
                <a:gridCol w="1737360"/>
                <a:gridCol w="1737360"/>
                <a:gridCol w="173736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Algorithm</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9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 complexity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9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Practical effect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930"/>
                    </a:solidFill>
                  </a:tcPr>
                </a:tc>
              </a:tr>
              <a:tr h="502920">
                <a:tc>
                  <a:txBody>
                    <a:bodyPr/>
                    <a:lstStyle/>
                    <a:p>
                      <a:pPr indent="0" marL="0">
                        <a:buNone/>
                      </a:pPr>
                      <a:r>
                        <a:rPr lang="en-US" sz="1200" dirty="0">
                          <a:solidFill>
                            <a:srgbClr val="1B1F27"/>
                          </a:solidFill>
                          <a:latin typeface="Calibri" pitchFamily="34" charset="0"/>
                          <a:ea typeface="Calibri" pitchFamily="34" charset="-122"/>
                          <a:cs typeface="Calibri" pitchFamily="34" charset="-120"/>
                        </a:rPr>
                        <a:t>Dijkstra</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1F6F8"/>
                    </a:solidFill>
                  </a:tcPr>
                </a:tc>
                <a:tc>
                  <a:txBody>
                    <a:bodyPr/>
                    <a:lstStyle/>
                    <a:p>
                      <a:pPr indent="0" marL="0">
                        <a:buNone/>
                      </a:pPr>
                      <a:r>
                        <a:rPr lang="en-US" sz="1200" dirty="0">
                          <a:solidFill>
                            <a:srgbClr val="1B1F27"/>
                          </a:solidFill>
                          <a:latin typeface="Calibri" pitchFamily="34" charset="0"/>
                          <a:ea typeface="Calibri" pitchFamily="34" charset="-122"/>
                          <a:cs typeface="Calibri" pitchFamily="34" charset="-120"/>
                        </a:rPr>
                        <a:t>O((V + E) log V)</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1F6F8"/>
                    </a:solidFill>
                  </a:tcPr>
                </a:tc>
                <a:tc>
                  <a:txBody>
                    <a:bodyPr/>
                    <a:lstStyle/>
                    <a:p>
                      <a:pPr indent="0" marL="0">
                        <a:buNone/>
                      </a:pPr>
                      <a:r>
                        <a:rPr lang="en-US" sz="1200" dirty="0">
                          <a:solidFill>
                            <a:srgbClr val="1B1F27"/>
                          </a:solidFill>
                          <a:latin typeface="Calibri" pitchFamily="34" charset="0"/>
                          <a:ea typeface="Calibri" pitchFamily="34" charset="-122"/>
                          <a:cs typeface="Calibri" pitchFamily="34" charset="-120"/>
                        </a:rPr>
                        <a:t>Fast, but explores in every direction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1F6F8"/>
                    </a:solidFill>
                  </a:tcPr>
                </a:tc>
              </a:tr>
              <a:tr h="502920">
                <a:tc>
                  <a:txBody>
                    <a:bodyPr/>
                    <a:lstStyle/>
                    <a:p>
                      <a:pPr indent="0" marL="0">
                        <a:buNone/>
                      </a:pPr>
                      <a:r>
                        <a:rPr lang="en-US" sz="1200" dirty="0">
                          <a:solidFill>
                            <a:srgbClr val="1B1F27"/>
                          </a:solidFill>
                          <a:latin typeface="Calibri" pitchFamily="34" charset="0"/>
                          <a:ea typeface="Calibri" pitchFamily="34" charset="-122"/>
                          <a:cs typeface="Calibri" pitchFamily="34" charset="-120"/>
                        </a:rPr>
                        <a:t>Bellman-Ford</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1F6F8"/>
                    </a:solidFill>
                  </a:tcPr>
                </a:tc>
                <a:tc>
                  <a:txBody>
                    <a:bodyPr/>
                    <a:lstStyle/>
                    <a:p>
                      <a:pPr indent="0" marL="0">
                        <a:buNone/>
                      </a:pPr>
                      <a:r>
                        <a:rPr lang="en-US" sz="1200" dirty="0">
                          <a:solidFill>
                            <a:srgbClr val="1B1F27"/>
                          </a:solidFill>
                          <a:latin typeface="Calibri" pitchFamily="34" charset="0"/>
                          <a:ea typeface="Calibri" pitchFamily="34" charset="-122"/>
                          <a:cs typeface="Calibri" pitchFamily="34" charset="-120"/>
                        </a:rPr>
                        <a:t>O(V × 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1F6F8"/>
                    </a:solidFill>
                  </a:tcPr>
                </a:tc>
                <a:tc>
                  <a:txBody>
                    <a:bodyPr/>
                    <a:lstStyle/>
                    <a:p>
                      <a:pPr indent="0" marL="0">
                        <a:buNone/>
                      </a:pPr>
                      <a:r>
                        <a:rPr lang="en-US" sz="1200" dirty="0">
                          <a:solidFill>
                            <a:srgbClr val="1B1F27"/>
                          </a:solidFill>
                          <a:latin typeface="Calibri" pitchFamily="34" charset="0"/>
                          <a:ea typeface="Calibri" pitchFamily="34" charset="-122"/>
                          <a:cs typeface="Calibri" pitchFamily="34" charset="-120"/>
                        </a:rPr>
                        <a:t>Slowest — impractical at real-time scale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1F6F8"/>
                    </a:solidFill>
                  </a:tcPr>
                </a:tc>
              </a:tr>
              <a:tr h="502920">
                <a:tc>
                  <a:txBody>
                    <a:bodyPr/>
                    <a:lstStyle/>
                    <a:p>
                      <a:pPr indent="0" marL="0">
                        <a:buNone/>
                      </a:pPr>
                      <a:r>
                        <a:rPr lang="en-US" sz="1200" dirty="0">
                          <a:solidFill>
                            <a:srgbClr val="1B1F27"/>
                          </a:solidFill>
                          <a:latin typeface="Calibri" pitchFamily="34" charset="0"/>
                          <a:ea typeface="Calibri" pitchFamily="34" charset="-122"/>
                          <a:cs typeface="Calibri" pitchFamily="34" charset="-120"/>
                        </a:rPr>
                        <a:t>A* Search</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1F6F8"/>
                    </a:solidFill>
                  </a:tcPr>
                </a:tc>
                <a:tc>
                  <a:txBody>
                    <a:bodyPr/>
                    <a:lstStyle/>
                    <a:p>
                      <a:pPr indent="0" marL="0">
                        <a:buNone/>
                      </a:pPr>
                      <a:r>
                        <a:rPr lang="en-US" sz="1200" dirty="0">
                          <a:solidFill>
                            <a:srgbClr val="1B1F27"/>
                          </a:solidFill>
                          <a:latin typeface="Calibri" pitchFamily="34" charset="0"/>
                          <a:ea typeface="Calibri" pitchFamily="34" charset="-122"/>
                          <a:cs typeface="Calibri" pitchFamily="34" charset="-120"/>
                        </a:rPr>
                        <a:t>O((V + E) log V), heuristic-pruned</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1F6F8"/>
                    </a:solidFill>
                  </a:tcPr>
                </a:tc>
                <a:tc>
                  <a:txBody>
                    <a:bodyPr/>
                    <a:lstStyle/>
                    <a:p>
                      <a:pPr indent="0" marL="0">
                        <a:buNone/>
                      </a:pPr>
                      <a:r>
                        <a:rPr lang="en-US" sz="1200" dirty="0">
                          <a:solidFill>
                            <a:srgbClr val="1B1F27"/>
                          </a:solidFill>
                          <a:latin typeface="Calibri" pitchFamily="34" charset="0"/>
                          <a:ea typeface="Calibri" pitchFamily="34" charset="-122"/>
                          <a:cs typeface="Calibri" pitchFamily="34" charset="-120"/>
                        </a:rPr>
                        <a:t>Fastest in practice — fewer nodes touched</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8DEE4"/>
                      </a:solidFill>
                      <a:prstDash val="solid"/>
                      <a:round/>
                      <a:headEnd type="none" w="med" len="med"/>
                      <a:tailEnd type="none" w="med" len="med"/>
                    </a:lnT>
                    <a:lnB w="9525" cap="flat" cmpd="sng" algn="ctr">
                      <a:solidFill>
                        <a:srgbClr val="D8DEE4"/>
                      </a:solidFill>
                      <a:prstDash val="solid"/>
                      <a:round/>
                      <a:headEnd type="none" w="med" len="med"/>
                      <a:tailEnd type="none" w="med" len="med"/>
                    </a:lnB>
                    <a:solidFill>
                      <a:srgbClr val="F1F6F8"/>
                    </a:solidFill>
                  </a:tcPr>
                </a:tc>
              </a:tr>
            </a:tbl>
          </a:graphicData>
        </a:graphic>
      </p:graphicFrame>
      <p:sp>
        <p:nvSpPr>
          <p:cNvPr id="8" name="Text 5"/>
          <p:cNvSpPr/>
          <p:nvPr/>
        </p:nvSpPr>
        <p:spPr>
          <a:xfrm>
            <a:off x="640080" y="4069080"/>
            <a:ext cx="5212080" cy="1828800"/>
          </a:xfrm>
          <a:prstGeom prst="rect">
            <a:avLst/>
          </a:prstGeom>
          <a:noFill/>
          <a:ln/>
        </p:spPr>
        <p:txBody>
          <a:bodyPr wrap="square" rtlCol="0" anchor="ctr"/>
          <a:lstStyle/>
          <a:p>
            <a:pPr indent="0" marL="0">
              <a:lnSpc>
                <a:spcPct val="135000"/>
              </a:lnSpc>
              <a:buNone/>
            </a:pPr>
            <a:r>
              <a:rPr lang="en-US" sz="1200" dirty="0">
                <a:solidFill>
                  <a:srgbClr val="1B1F27"/>
                </a:solidFill>
                <a:latin typeface="Calibri" pitchFamily="34" charset="0"/>
                <a:ea typeface="Calibri" pitchFamily="34" charset="-122"/>
                <a:cs typeface="Calibri" pitchFamily="34" charset="-120"/>
              </a:rPr>
              <a:t>Dijkstra and A* sit in the same complexity class — O((V+E) log V) — so their cost grows at essentially the same rate as the network gets bigger. Bellman-Ford's O(V×E) relaxation sweep grows far faster, which is why it falls behind quickly at scale even though all three start out close together on a small graph.</a:t>
            </a:r>
            <a:endParaRPr lang="en-US" sz="1200" dirty="0"/>
          </a:p>
        </p:txBody>
      </p:sp>
      <p:graphicFrame>
        <p:nvGraphicFramePr>
          <p:cNvPr id="9" name="Chart 0" descr=""/>
          <p:cNvGraphicFramePr/>
          <p:nvPr/>
        </p:nvGraphicFramePr>
        <p:xfrm>
          <a:off x="6126480" y="1828800"/>
          <a:ext cx="5440680" cy="420624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9AA5A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57200"/>
            <a:ext cx="82296" cy="310896"/>
          </a:xfrm>
          <a:prstGeom prst="rect">
            <a:avLst/>
          </a:prstGeom>
          <a:solidFill>
            <a:srgbClr val="C99A3E"/>
          </a:solidFill>
          <a:ln/>
        </p:spPr>
      </p:sp>
      <p:sp>
        <p:nvSpPr>
          <p:cNvPr id="3" name="Text 1"/>
          <p:cNvSpPr/>
          <p:nvPr/>
        </p:nvSpPr>
        <p:spPr>
          <a:xfrm>
            <a:off x="804672" y="411480"/>
            <a:ext cx="548640" cy="365760"/>
          </a:xfrm>
          <a:prstGeom prst="rect">
            <a:avLst/>
          </a:prstGeom>
          <a:noFill/>
          <a:ln/>
        </p:spPr>
        <p:txBody>
          <a:bodyPr wrap="square" rtlCol="0" anchor="ctr"/>
          <a:lstStyle/>
          <a:p>
            <a:pPr indent="0" marL="0">
              <a:buNone/>
            </a:pPr>
            <a:r>
              <a:rPr lang="en-US" sz="1200" b="1" dirty="0">
                <a:solidFill>
                  <a:srgbClr val="C99A3E"/>
                </a:solidFill>
                <a:latin typeface="Calibri" pitchFamily="34" charset="0"/>
                <a:ea typeface="Calibri" pitchFamily="34" charset="-122"/>
                <a:cs typeface="Calibri" pitchFamily="34" charset="-120"/>
              </a:rPr>
              <a:t>09</a:t>
            </a:r>
            <a:endParaRPr lang="en-US" sz="1200" dirty="0"/>
          </a:p>
        </p:txBody>
      </p:sp>
      <p:sp>
        <p:nvSpPr>
          <p:cNvPr id="4" name="Text 2"/>
          <p:cNvSpPr/>
          <p:nvPr/>
        </p:nvSpPr>
        <p:spPr>
          <a:xfrm>
            <a:off x="1097280" y="411480"/>
            <a:ext cx="7315200" cy="365760"/>
          </a:xfrm>
          <a:prstGeom prst="rect">
            <a:avLst/>
          </a:prstGeom>
          <a:noFill/>
          <a:ln/>
        </p:spPr>
        <p:txBody>
          <a:bodyPr wrap="square" rtlCol="0" anchor="ctr"/>
          <a:lstStyle/>
          <a:p>
            <a:pPr indent="0" marL="0">
              <a:buNone/>
            </a:pPr>
            <a:r>
              <a:rPr lang="en-US" sz="1200" b="1" spc="150" kern="0" dirty="0">
                <a:solidFill>
                  <a:srgbClr val="8FA6C2"/>
                </a:solidFill>
                <a:latin typeface="Calibri" pitchFamily="34" charset="0"/>
                <a:ea typeface="Calibri" pitchFamily="34" charset="-122"/>
                <a:cs typeface="Calibri" pitchFamily="34" charset="-120"/>
              </a:rPr>
              <a:t>CONCLUSION</a:t>
            </a:r>
            <a:endParaRPr lang="en-US" sz="1200" dirty="0"/>
          </a:p>
        </p:txBody>
      </p:sp>
      <p:sp>
        <p:nvSpPr>
          <p:cNvPr id="5" name="Shape 3"/>
          <p:cNvSpPr/>
          <p:nvPr/>
        </p:nvSpPr>
        <p:spPr>
          <a:xfrm>
            <a:off x="640080" y="786384"/>
            <a:ext cx="10881360" cy="0"/>
          </a:xfrm>
          <a:prstGeom prst="line">
            <a:avLst/>
          </a:prstGeom>
          <a:noFill/>
          <a:ln w="9525">
            <a:solidFill>
              <a:srgbClr val="24344F"/>
            </a:solidFill>
            <a:prstDash val="solid"/>
          </a:ln>
        </p:spPr>
      </p:sp>
      <p:sp>
        <p:nvSpPr>
          <p:cNvPr id="6" name="Text 4"/>
          <p:cNvSpPr/>
          <p:nvPr/>
        </p:nvSpPr>
        <p:spPr>
          <a:xfrm>
            <a:off x="640080" y="914400"/>
            <a:ext cx="10881360" cy="7772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Final Conclusion &amp; Best Choice</a:t>
            </a:r>
            <a:endParaRPr lang="en-US" sz="2800" dirty="0"/>
          </a:p>
        </p:txBody>
      </p:sp>
      <p:sp>
        <p:nvSpPr>
          <p:cNvPr id="7" name="Text 5"/>
          <p:cNvSpPr/>
          <p:nvPr/>
        </p:nvSpPr>
        <p:spPr>
          <a:xfrm>
            <a:off x="640080" y="1874520"/>
            <a:ext cx="10881360" cy="457200"/>
          </a:xfrm>
          <a:prstGeom prst="rect">
            <a:avLst/>
          </a:prstGeom>
          <a:noFill/>
          <a:ln/>
        </p:spPr>
        <p:txBody>
          <a:bodyPr wrap="square" rtlCol="0" anchor="ctr"/>
          <a:lstStyle/>
          <a:p>
            <a:pPr indent="0" marL="0">
              <a:buNone/>
            </a:pPr>
            <a:r>
              <a:rPr lang="en-US" sz="1900" b="1" dirty="0">
                <a:solidFill>
                  <a:srgbClr val="6FE0C7"/>
                </a:solidFill>
                <a:latin typeface="Cambria" pitchFamily="34" charset="0"/>
                <a:ea typeface="Cambria" pitchFamily="34" charset="-122"/>
                <a:cs typeface="Cambria" pitchFamily="34" charset="-120"/>
              </a:rPr>
              <a:t>A* Search is the best fit for real-time flood navigation.</a:t>
            </a:r>
            <a:endParaRPr lang="en-US" sz="1900" dirty="0"/>
          </a:p>
        </p:txBody>
      </p:sp>
      <p:sp>
        <p:nvSpPr>
          <p:cNvPr id="8" name="Text 6"/>
          <p:cNvSpPr/>
          <p:nvPr/>
        </p:nvSpPr>
        <p:spPr>
          <a:xfrm>
            <a:off x="640080" y="2395728"/>
            <a:ext cx="10881360" cy="1051560"/>
          </a:xfrm>
          <a:prstGeom prst="rect">
            <a:avLst/>
          </a:prstGeom>
          <a:noFill/>
          <a:ln/>
        </p:spPr>
        <p:txBody>
          <a:bodyPr wrap="square" rtlCol="0" anchor="ctr"/>
          <a:lstStyle/>
          <a:p>
            <a:pPr indent="0" marL="0">
              <a:lnSpc>
                <a:spcPct val="135000"/>
              </a:lnSpc>
              <a:buNone/>
            </a:pPr>
            <a:r>
              <a:rPr lang="en-US" sz="1300" dirty="0">
                <a:solidFill>
                  <a:srgbClr val="DCE7F0"/>
                </a:solidFill>
                <a:latin typeface="Calibri" pitchFamily="34" charset="0"/>
                <a:ea typeface="Calibri" pitchFamily="34" charset="-122"/>
                <a:cs typeface="Calibri" pitchFamily="34" charset="-120"/>
              </a:rPr>
              <a:t>It reaches the same optimal route Dijkstra guarantees, but explores a fraction of the network to get there — the difference that matters when a route needs to be computed in the seconds before an ambulance moves. Dijkstra remains valuable as a correctness check, and Bellman-Ford as a one-time validation pass on the road-weight data itself.</a:t>
            </a:r>
            <a:endParaRPr lang="en-US" sz="1300" dirty="0"/>
          </a:p>
        </p:txBody>
      </p:sp>
      <p:sp>
        <p:nvSpPr>
          <p:cNvPr id="9" name="Shape 7"/>
          <p:cNvSpPr/>
          <p:nvPr/>
        </p:nvSpPr>
        <p:spPr>
          <a:xfrm>
            <a:off x="640080" y="3611880"/>
            <a:ext cx="10881360" cy="0"/>
          </a:xfrm>
          <a:prstGeom prst="line">
            <a:avLst/>
          </a:prstGeom>
          <a:noFill/>
          <a:ln w="9525">
            <a:solidFill>
              <a:srgbClr val="24405A"/>
            </a:solidFill>
            <a:prstDash val="solid"/>
          </a:ln>
        </p:spPr>
      </p:sp>
      <p:sp>
        <p:nvSpPr>
          <p:cNvPr id="10" name="Text 8"/>
          <p:cNvSpPr/>
          <p:nvPr/>
        </p:nvSpPr>
        <p:spPr>
          <a:xfrm>
            <a:off x="640080" y="3840480"/>
            <a:ext cx="5120640" cy="274320"/>
          </a:xfrm>
          <a:prstGeom prst="rect">
            <a:avLst/>
          </a:prstGeom>
          <a:noFill/>
          <a:ln/>
        </p:spPr>
        <p:txBody>
          <a:bodyPr wrap="square" rtlCol="0" anchor="ctr"/>
          <a:lstStyle/>
          <a:p>
            <a:pPr indent="0" marL="0">
              <a:buNone/>
            </a:pPr>
            <a:r>
              <a:rPr lang="en-US" sz="1100" b="1" spc="150" kern="0" dirty="0">
                <a:solidFill>
                  <a:srgbClr val="E08A8A"/>
                </a:solidFill>
                <a:latin typeface="Calibri" pitchFamily="34" charset="0"/>
                <a:ea typeface="Calibri" pitchFamily="34" charset="-122"/>
                <a:cs typeface="Calibri" pitchFamily="34" charset="-120"/>
              </a:rPr>
              <a:t>STILL OPEN</a:t>
            </a:r>
            <a:endParaRPr lang="en-US" sz="1100" dirty="0"/>
          </a:p>
        </p:txBody>
      </p:sp>
      <p:sp>
        <p:nvSpPr>
          <p:cNvPr id="11" name="Text 9"/>
          <p:cNvSpPr/>
          <p:nvPr/>
        </p:nvSpPr>
        <p:spPr>
          <a:xfrm>
            <a:off x="640080" y="4160520"/>
            <a:ext cx="5120640" cy="822960"/>
          </a:xfrm>
          <a:prstGeom prst="rect">
            <a:avLst/>
          </a:prstGeom>
          <a:noFill/>
          <a:ln/>
        </p:spPr>
        <p:txBody>
          <a:bodyPr wrap="square" rtlCol="0" anchor="ctr"/>
          <a:lstStyle/>
          <a:p>
            <a:pPr indent="0" marL="0">
              <a:lnSpc>
                <a:spcPct val="125000"/>
              </a:lnSpc>
              <a:buNone/>
            </a:pPr>
            <a:r>
              <a:rPr lang="en-US" sz="1150" dirty="0">
                <a:solidFill>
                  <a:srgbClr val="B9C6D6"/>
                </a:solidFill>
                <a:latin typeface="Calibri" pitchFamily="34" charset="0"/>
                <a:ea typeface="Calibri" pitchFamily="34" charset="-122"/>
                <a:cs typeface="Calibri" pitchFamily="34" charset="-120"/>
              </a:rPr>
              <a:t>Flood status is entered manually rather than pulled from live sensors, and the tool runs in a terminal with no map overlay yet.</a:t>
            </a:r>
            <a:endParaRPr lang="en-US" sz="1150" dirty="0"/>
          </a:p>
        </p:txBody>
      </p:sp>
      <p:sp>
        <p:nvSpPr>
          <p:cNvPr id="12" name="Text 10"/>
          <p:cNvSpPr/>
          <p:nvPr/>
        </p:nvSpPr>
        <p:spPr>
          <a:xfrm>
            <a:off x="6400800" y="3840480"/>
            <a:ext cx="5120640" cy="274320"/>
          </a:xfrm>
          <a:prstGeom prst="rect">
            <a:avLst/>
          </a:prstGeom>
          <a:noFill/>
          <a:ln/>
        </p:spPr>
        <p:txBody>
          <a:bodyPr wrap="square" rtlCol="0" anchor="ctr"/>
          <a:lstStyle/>
          <a:p>
            <a:pPr indent="0" marL="0">
              <a:buNone/>
            </a:pPr>
            <a:r>
              <a:rPr lang="en-US" sz="1100" b="1" spc="150" kern="0" dirty="0">
                <a:solidFill>
                  <a:srgbClr val="6FE0C7"/>
                </a:solidFill>
                <a:latin typeface="Calibri" pitchFamily="34" charset="0"/>
                <a:ea typeface="Calibri" pitchFamily="34" charset="-122"/>
                <a:cs typeface="Calibri" pitchFamily="34" charset="-120"/>
              </a:rPr>
              <a:t>NEXT STEPS</a:t>
            </a:r>
            <a:endParaRPr lang="en-US" sz="1100" dirty="0"/>
          </a:p>
        </p:txBody>
      </p:sp>
      <p:sp>
        <p:nvSpPr>
          <p:cNvPr id="13" name="Text 11"/>
          <p:cNvSpPr/>
          <p:nvPr/>
        </p:nvSpPr>
        <p:spPr>
          <a:xfrm>
            <a:off x="6400800" y="4160520"/>
            <a:ext cx="5120640" cy="822960"/>
          </a:xfrm>
          <a:prstGeom prst="rect">
            <a:avLst/>
          </a:prstGeom>
          <a:noFill/>
          <a:ln/>
        </p:spPr>
        <p:txBody>
          <a:bodyPr wrap="square" rtlCol="0" anchor="ctr"/>
          <a:lstStyle/>
          <a:p>
            <a:pPr indent="0" marL="0">
              <a:lnSpc>
                <a:spcPct val="125000"/>
              </a:lnSpc>
              <a:buNone/>
            </a:pPr>
            <a:r>
              <a:rPr lang="en-US" sz="1150" dirty="0">
                <a:solidFill>
                  <a:srgbClr val="B9C6D6"/>
                </a:solidFill>
                <a:latin typeface="Calibri" pitchFamily="34" charset="0"/>
                <a:ea typeface="Calibri" pitchFamily="34" charset="-122"/>
                <a:cs typeface="Calibri" pitchFamily="34" charset="-120"/>
              </a:rPr>
              <a:t>Feed in live water-level or IoT sensor data, and add a map-based interface showing flooded roads in red and safe paths in green.</a:t>
            </a:r>
            <a:endParaRPr lang="en-US" sz="1150" dirty="0"/>
          </a:p>
        </p:txBody>
      </p:sp>
      <p:sp>
        <p:nvSpPr>
          <p:cNvPr id="14" name="Shape 12"/>
          <p:cNvSpPr/>
          <p:nvPr/>
        </p:nvSpPr>
        <p:spPr>
          <a:xfrm>
            <a:off x="640080" y="5532120"/>
            <a:ext cx="457200" cy="54864"/>
          </a:xfrm>
          <a:prstGeom prst="rect">
            <a:avLst/>
          </a:prstGeom>
          <a:solidFill>
            <a:srgbClr val="C99A3E"/>
          </a:solidFill>
          <a:ln/>
        </p:spPr>
      </p:sp>
      <p:sp>
        <p:nvSpPr>
          <p:cNvPr id="15" name="Text 13"/>
          <p:cNvSpPr/>
          <p:nvPr/>
        </p:nvSpPr>
        <p:spPr>
          <a:xfrm>
            <a:off x="640080" y="5623560"/>
            <a:ext cx="5486400" cy="548640"/>
          </a:xfrm>
          <a:prstGeom prst="rect">
            <a:avLst/>
          </a:prstGeom>
          <a:noFill/>
          <a:ln/>
        </p:spPr>
        <p:txBody>
          <a:bodyPr wrap="square"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Thank you</a:t>
            </a:r>
            <a:endParaRPr lang="en-US" sz="2300" dirty="0"/>
          </a:p>
        </p:txBody>
      </p:sp>
      <p:sp>
        <p:nvSpPr>
          <p:cNvPr id="16" name="Text 1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E8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2026-08-15T18:01:11Z</dcterms:created>
  <dcterms:modified xsi:type="dcterms:W3CDTF">2026-08-15T18:01:11Z</dcterms:modified>
</cp:coreProperties>
</file>